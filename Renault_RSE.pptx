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Réduction des émissions de GES vs 2019 (%)</a:t>
            </a:r>
          </a:p>
        </c:rich>
      </c:tx>
      <c:layout/>
      <c:overlay val="0"/>
    </c:title>
    <c:autoTitleDeleted val="0"/>
    <c:plotArea>
      <c:barChart>
        <c:barDir val="col"/>
        <c:grouping val="clustered"/>
        <c:ser>
          <c:idx val="0"/>
          <c:order val="0"/>
          <c:tx>
            <c:strRef>
              <c:f>Sheet1!$B$1</c:f>
              <c:strCache>
                <c:ptCount val="1"/>
                <c:pt idx="0">
                  <c:v>Réalisé 2025</c:v>
                </c:pt>
              </c:strCache>
            </c:strRef>
          </c:tx>
          <c:spPr>
            <a:solidFill>
              <a:srgbClr val="111111"/>
            </a:solidFill>
          </c:spPr>
          <c:cat>
            <c:strRef>
              <c:f>Sheet1!$A$2:$A$3</c:f>
              <c:strCache>
                <c:ptCount val="2"/>
                <c:pt idx="0">
                  <c:v>Scopes 1 + 2 (usines)</c:v>
                </c:pt>
                <c:pt idx="1">
                  <c:v>Scope 3 (chaîne de valeur + usage)</c:v>
                </c:pt>
              </c:strCache>
            </c:strRef>
          </c:cat>
          <c:val>
            <c:numRef>
              <c:f>Sheet1!$B$2:$B$3</c:f>
              <c:numCache>
                <c:formatCode>General</c:formatCode>
                <c:ptCount val="2"/>
                <c:pt idx="0">
                  <c:v>64</c:v>
                </c:pt>
                <c:pt idx="1">
                  <c:v>38</c:v>
                </c:pt>
              </c:numCache>
            </c:numRef>
          </c:val>
        </c:ser>
        <c:ser>
          <c:idx val="1"/>
          <c:order val="1"/>
          <c:tx>
            <c:strRef>
              <c:f>Sheet1!$C$1</c:f>
              <c:strCache>
                <c:ptCount val="1"/>
                <c:pt idx="0">
                  <c:v>Cible 2030</c:v>
                </c:pt>
              </c:strCache>
            </c:strRef>
          </c:tx>
          <c:spPr>
            <a:solidFill>
              <a:srgbClr val="B0852F"/>
            </a:solidFill>
          </c:spPr>
          <c:cat>
            <c:strRef>
              <c:f>Sheet1!$A$2:$A$3</c:f>
              <c:strCache>
                <c:ptCount val="2"/>
                <c:pt idx="0">
                  <c:v>Scopes 1 + 2 (usines)</c:v>
                </c:pt>
                <c:pt idx="1">
                  <c:v>Scope 3 (chaîne de valeur + usage)</c:v>
                </c:pt>
              </c:strCache>
            </c:strRef>
          </c:cat>
          <c:val>
            <c:numRef>
              <c:f>Sheet1!$C$2:$C$3</c:f>
              <c:numCache>
                <c:formatCode>General</c:formatCode>
                <c:ptCount val="2"/>
                <c:pt idx="0">
                  <c:v>62.5</c:v>
                </c:pt>
                <c:pt idx="1">
                  <c:v>27.5</c:v>
                </c:pt>
              </c:numCache>
            </c:numRef>
          </c:val>
        </c:ser>
        <c:ser>
          <c:idx val="2"/>
          <c:order val="2"/>
          <c:tx>
            <c:strRef>
              <c:f>Sheet1!$D$1</c:f>
              <c:strCache>
                <c:ptCount val="1"/>
                <c:pt idx="0">
                  <c:v>Cible 2035</c:v>
                </c:pt>
              </c:strCache>
            </c:strRef>
          </c:tx>
          <c:spPr>
            <a:solidFill>
              <a:srgbClr val="D6C4A0"/>
            </a:solidFill>
          </c:spPr>
          <c:cat>
            <c:strRef>
              <c:f>Sheet1!$A$2:$A$3</c:f>
              <c:strCache>
                <c:ptCount val="2"/>
                <c:pt idx="0">
                  <c:v>Scopes 1 + 2 (usines)</c:v>
                </c:pt>
                <c:pt idx="1">
                  <c:v>Scope 3 (chaîne de valeur + usage)</c:v>
                </c:pt>
              </c:strCache>
            </c:strRef>
          </c:cat>
          <c:val>
            <c:numRef>
              <c:f>Sheet1!$D$2:$D$3</c:f>
              <c:numCache>
                <c:formatCode>General</c:formatCode>
                <c:ptCount val="2"/>
                <c:pt idx="0">
                  <c:v>72</c:v>
                </c:pt>
                <c:pt idx="1">
                  <c:v>40</c:v>
                </c:pt>
              </c:numCache>
            </c:numRef>
          </c:val>
        </c:ser>
        <c:dLbls>
          <c:numFmt formatCode="&quot;−&quot;General&quot; %&quot;" sourceLinked="0"/>
          <c:txPr>
            <a:bodyPr/>
            <a:lstStyle/>
            <a:p>
              <a:pPr>
                <a:defRPr sz="1200">
                  <a:solidFill>
                    <a:srgbClr val="1A1A1A"/>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6A3"/>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1A1A1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Ventes mondiales 2025 par motorisation</a:t>
            </a:r>
          </a:p>
        </c:rich>
      </c:tx>
      <c:layout/>
      <c:overlay val="0"/>
    </c:title>
    <c:autoTitleDeleted val="0"/>
    <c:plotArea>
      <c:barChart>
        <c:barDir val="bar"/>
        <c:grouping val="clustered"/>
        <c:ser>
          <c:idx val="0"/>
          <c:order val="0"/>
          <c:tx>
            <c:strRef>
              <c:f>Sheet1!$B$1</c:f>
              <c:strCache>
                <c:ptCount val="1"/>
                <c:pt idx="0">
                  <c:v>Part des ventes mondiales 2025</c:v>
                </c:pt>
              </c:strCache>
            </c:strRef>
          </c:tx>
          <c:spPr>
            <a:solidFill>
              <a:srgbClr val="111111"/>
            </a:solidFill>
          </c:spPr>
          <c:dPt>
            <c:idx val="0"/>
            <c:spPr>
              <a:solidFill>
                <a:srgbClr val="B0852F"/>
              </a:solidFill>
            </c:spPr>
          </c:dPt>
          <c:dPt>
            <c:idx val="1"/>
            <c:spPr>
              <a:solidFill>
                <a:srgbClr val="111111"/>
              </a:solidFill>
            </c:spPr>
          </c:dPt>
          <c:dPt>
            <c:idx val="2"/>
            <c:spPr>
              <a:solidFill>
                <a:srgbClr val="B0852F"/>
              </a:solidFill>
            </c:spPr>
          </c:dPt>
          <c:dPt>
            <c:idx val="3"/>
            <c:spPr>
              <a:solidFill>
                <a:srgbClr val="111111"/>
              </a:solidFill>
            </c:spPr>
          </c:dPt>
          <c:dPt>
            <c:idx val="4"/>
            <c:spPr>
              <a:solidFill>
                <a:srgbClr val="111111"/>
              </a:solidFill>
            </c:spPr>
          </c:dPt>
          <c:dPt>
            <c:idx val="5"/>
            <c:spPr>
              <a:solidFill>
                <a:srgbClr val="B0852F"/>
              </a:solidFill>
            </c:spPr>
          </c:dPt>
          <c:dPt>
            <c:idx val="6"/>
            <c:spPr>
              <a:solidFill>
                <a:srgbClr val="111111"/>
              </a:solidFill>
            </c:spPr>
          </c:dPt>
          <c:cat>
            <c:strRef>
              <c:f>Sheet1!$A$2:$A$8</c:f>
              <c:strCache>
                <c:ptCount val="7"/>
                <c:pt idx="0">
                  <c:v>Hybride rech.</c:v>
                </c:pt>
                <c:pt idx="1">
                  <c:v>Flexfuel</c:v>
                </c:pt>
                <c:pt idx="2">
                  <c:v>Électrique</c:v>
                </c:pt>
                <c:pt idx="3">
                  <c:v>GPL</c:v>
                </c:pt>
                <c:pt idx="4">
                  <c:v>Diesel</c:v>
                </c:pt>
                <c:pt idx="5">
                  <c:v>Hybride</c:v>
                </c:pt>
                <c:pt idx="6">
                  <c:v>Essence</c:v>
                </c:pt>
              </c:strCache>
            </c:strRef>
          </c:cat>
          <c:val>
            <c:numRef>
              <c:f>Sheet1!$B$2:$B$8</c:f>
              <c:numCache>
                <c:formatCode>General</c:formatCode>
                <c:ptCount val="7"/>
                <c:pt idx="0">
                  <c:v>1</c:v>
                </c:pt>
                <c:pt idx="1">
                  <c:v>5</c:v>
                </c:pt>
                <c:pt idx="2">
                  <c:v>10</c:v>
                </c:pt>
                <c:pt idx="3">
                  <c:v>13</c:v>
                </c:pt>
                <c:pt idx="4">
                  <c:v>18</c:v>
                </c:pt>
                <c:pt idx="5">
                  <c:v>20</c:v>
                </c:pt>
                <c:pt idx="6">
                  <c:v>33</c:v>
                </c:pt>
              </c:numCache>
            </c:numRef>
          </c:val>
        </c:ser>
        <c:dLbls>
          <c:numFmt formatCode="0&quot; %&quot;" sourceLinked="0"/>
          <c:txPr>
            <a:bodyPr/>
            <a:lstStyle/>
            <a:p>
              <a:pPr>
                <a:defRPr sz="1200">
                  <a:solidFill>
                    <a:srgbClr val="1A1A1A"/>
                  </a:solidFill>
                </a:defRPr>
              </a:pPr>
            </a:p>
          </c:txPr>
          <c:dLblPos val="outEnd"/>
          <c:showLegendKey val="0"/>
          <c:showVal val="1"/>
          <c:showCatName val="0"/>
          <c:showSerName val="0"/>
          <c:showPercent val="0"/>
          <c:showBubbleSize val="0"/>
          <c:showLeaderLines val="1"/>
        </c:dLbls>
        <c:gapWidth val="45"/>
        <c:overlap val="-10"/>
        <c:axId val="-2068027336"/>
        <c:axId val="-2113994440"/>
      </c:barChart>
      <c:catAx>
        <c:axId val="-2068027336"/>
        <c:scaling>
          <c:orientation val="minMax"/>
        </c:scaling>
        <c:delete val="0"/>
        <c:axPos val="l"/>
        <c:majorTickMark val="out"/>
        <c:minorTickMark val="none"/>
        <c:tickLblPos val="nextTo"/>
        <c:spPr>
          <a:ln>
            <a:solidFill>
              <a:srgbClr val="BFB6A3"/>
            </a:solid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A1A1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[Nicolas BINAND – 0:40]</a:t>
            </a:r>
          </a:p>
          <a:p/>
          <a:p>
            <a:r>
              <a:t>Bonjour à toutes et à tous. Nous sommes Nicolas, Danyil, Maxime et Matheo, et nous allons vous présenter notre étude de cas sur la politique RSE de Renault Group. Renault est souvent cité comme un bon élève de la RSE dans l'automobile. Notre objectif, c'est de vérifier si c'est vrai, en partant de ses propres documents et en les confrontant à ce qu'en disent la presse, la justice et les ONG. On a travaillé à partir du Document d'enregistrement universel 2025, des quatre chartes du groupe et d'une recherche documentaire complémentaire.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[Nicolas BINAND – 1:00]</a:t>
            </a:r>
          </a:p>
          <a:p/>
          <a:p>
            <a:r>
              <a:t>D'abord, qui est Renault Group en 2025 ? C'est 2,3 millions de véhicules vendus, 57,9 milliards d'euros de chiffre d'affaires et un peu plus de 100 000 salariés. Il y a quatre marques : Renault, Dacia, Alpine et Mobilize. Petite précision importante : le résultat net 2025 est de moins 10,9 milliards d'euros, mais c'est à cause de la dépréciation de la participation dans Nissan. Hors Nissan, le groupe reste bénéficiaire. Côté identité, Renault s'est donné en 2021 une raison d'être, au sens de la loi PACTE : « Nous faisons battre le cœur de l'innovation pour que la mobilité nous rapproche les uns des autres ». Et sa stratégie de développement durable repose sur trois piliers : l'environnement, la sécurité et l'inclusion.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[Nicolas BINAND – 1:00]</a:t>
            </a:r>
          </a:p>
          <a:p/>
          <a:p>
            <a:r>
              <a:t>Cette RSE ne se joue pas dans le vide : il y a un cadre légal très dense. On a la loi Sapin II contre la corruption en 2016, le devoir de vigilance en 2017, la loi PACTE en 2019. Ensuite, la taxonomie verte, puis la CSRD, qui oblige Renault à publier un état de durabilité audité. Mais ce cadre bouge : en 2025, l'Europe a assoupli les normes CO2. En décembre 2025, la Commission a proposé de remplacer l'interdiction des voitures thermiques en 2035 par un objectif de moins 90 %. Et le paquet Omnibus a allégé la CSRD. Garder ça en tête est important pour juger ce qui relève du volontaire et ce qui relève de l'obligation. Autrement dit, une partie des progrès de Renault est imposée par la loi, et c'est précisément ce qu'on va essayer de distinguer tout au long de l'exposé.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[Nicolas BINAND – 0:40]</a:t>
            </a:r>
          </a:p>
          <a:p/>
          <a:p>
            <a:r>
              <a:t>D'où notre problématique : dans quelle mesure la politique RSE de Renault Group, très structurée sur le papier, se traduit-elle par des résultats à la hauteur de ses engagements ? On va répondre en deux temps. Dans une première partie, on étudie le rapport RSE et les actions concrètes du groupe. Dans une seconde partie, on les passe au crible : critiques externes, standards GRI et comparaison avec Stellantis. À chaque fois, on essaiera de confronter ce que Renault écrit à ce qui est réellement observé.</a:t>
            </a:r>
          </a:p>
          <a:p/>
          <a:p>
            <a:r>
              <a:t>Transition : Je laisse la parole à Danyil, qui va vous expliquer comment Renault rend compte de sa 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[Danyil BAZAIN – 1:00]</a:t>
            </a:r>
          </a:p>
          <a:p/>
          <a:p>
            <a:r>
              <a:t>Merci Nicolas. Notre source principale, c'est le Document d'enregistrement universel 2025 : 628 pages, déposé à l'AMF. Depuis la CSRD, il contient un état de durabilité selon les normes européennes ESRS, vérifié par les auditeurs. Le cœur de ce rapport, c'est la double matérialité : on croise l'impact de Renault sur le monde et l'impact du monde sur Renault. Au départ, le groupe a recensé 227 impacts, risques et opportunités. Il en ressort 39 matériels, regroupés en 20 enjeux. Parmi eux, 7 sont doublement matériels : par exemple la transition bas carbone, les ressources et le recyclage, ou les chaînes d'approvisionnement. Ce qu'on a apprécié, c'est la franchise du document. Renault écrit lui-même que « l'efficacité des politiques n'est pas toujours mesurée ». C'est rare dans un rapport de ce type, et c'est à mettre au crédit du groupe.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[Danyil BAZAIN – 0:50]</a:t>
            </a:r>
          </a:p>
          <a:p/>
          <a:p>
            <a:r>
              <a:t>Deuxième point : la gouvernance. Au sommet, le Conseil d'administration, avec 37,5 % de femmes. Il s'appuie sur un Comité Stratégie et Développement Durable, qui se réunit chaque trimestre et suit un tableau de bord ESG. En dessous, la Direction du Développement Durable pilote le tout chaque mois. Surtout, la RSE est reliée à l'argent : jusqu'à 57,5 % du salaire fixe du directeur général dépend de critères de durabilité, et un quart de ses actions de performance dépend d'une cible climat. C'est un vrai point fort, même si ces critères restent en partie des indicateurs de moyens.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[Danyil BAZAIN – 1:00]</a:t>
            </a:r>
          </a:p>
          <a:p/>
          <a:p>
            <a:r>
              <a:t>Venons-en aux objectifs. Renault vise la neutralité carbone en 2040 en Europe et en 2050 dans le monde. Entre 2019 et 2025, ses émissions totales ont baissé de 38 %. Regardez le graphique : sur les usines, c'est moins 64 %, pour une cible 2030 de moins 62,5 %. Sur la chaîne de valeur et l'usage des voitures, c'est moins 38 %, pour une cible de moins 27,5 %. Les deux cibles 2030 sont donc déjà dépassées, cinq ans en avance. On peut le lire de deux façons : soit la transformation marche très bien, soit les cibles étaient trop prudentes. D'ailleurs, pour le scope 3, Renault vise « nettement moins de 2 degrés », pas 1,5 degré. Autre signal : l'objectif de réduire de 30 % la consommation d'énergie des usines en 2025 n'a pas été tenu, on est à moins 28 %.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[Danyil BAZAIN – 1:00]</a:t>
            </a:r>
          </a:p>
          <a:p/>
          <a:p>
            <a:r>
              <a:t>Première action concrète, et la plus importante : l'électrification, parce que l'usage des voitures, c'est environ les trois quarts des émissions. Selon les analyses de Renault, une voiture électrique émet en moyenne deux fois moins sur son cycle de vie. En Europe, les progrès sont nets : 44,9 % des ventes sont électrifiées, et les émissions moyennes des voitures neuves sont passées sous les 100 grammes de CO2 par kilomètre. Mais regardez le graphique à l'échelle mondiale : seuls 10 % des ventes sont 100 % électriques, et 69 % sont encore des moteurs thermiques sans aucune électrification. Autrement dit, l'électrification est surtout une réalité européenne. En Inde ou en Amérique latine, Renault vend encore majoritairement de l'essence, du diesel et du GPL.</a:t>
            </a:r>
          </a:p>
          <a:p/>
          <a:p>
            <a:r>
              <a:t>Transition : Maxime va maintenant vous présenter les autres actions du groupe.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[Maxime JAEN – 1:00]</a:t>
            </a:r>
          </a:p>
          <a:p/>
          <a:p>
            <a:r>
              <a:t>Merci Danyil. Deuxième action phare : l'économie circulaire, avec la Refactory de Flins, présentée comme la première usine européenne dédiée à l'économie circulaire de la mobilité. On y reconditionne des voitures d'occasion, on y répare des batteries et on y remet des pièces à neuf. Résultat : les nouveaux modèles contiennent 17 à 20 % de plastique recyclé, deux fois la moyenne européenne. Côté achats, la politique fournisseurs de 2024 intègre des critères ESG et exige une note EcoVadis minimale. Il y a eu 107 audits en 2025. Mais la politique dit aussi que les fournisseurs de rang N, donc les mines, sont gérés par les fournisseurs de rang 1. Enfin, on note que la Refactory accompagne aussi l'arrêt de la production automobile à Flins en 2024, et que les syndicats restent sceptiques sur la reconversion des salariés.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[Maxime JAEN – 1:00]</a:t>
            </a:r>
          </a:p>
          <a:p/>
          <a:p>
            <a:r>
              <a:t>Sur le volet social et éthique, on a analysé les quatre chartes fournies. La charte Diversité et Inclusion de 2022 fixe un objectif clair : supprimer l'écart salarial entre femmes et hommes d'ici 2025. La part de femmes dans le management est passée de 24,7 à 27,4 %. Côté éthique, c'est solide : le code anticorruption est très concret, avec par exemple un plafond de 60 euros pour les cadeaux, et le groupe est certifié ISO 37001 depuis 2024. En 2025, la plateforme d'alerte a reçu 883 signalements. La charte éthique, elle, chapeaute l'ensemble, mais reste surtout qualitative. Dernier point, les plaintes pour discrimination ou harcèlement sont en hausse, 287 contre 230 l'année précédente, ce qui peut aussi traduire une meilleure libération de la parole.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[Maxime JAEN – 0:50]</a:t>
            </a:r>
          </a:p>
          <a:p/>
          <a:p>
            <a:r>
              <a:t>Côté certifications, 100 % des usines sont certifiées ISO 14001 pour l'environnement. En revanche, seuls deux sites sont certifiés ISO 45001 pour la santé et la sécurité. Renault a été le premier constructeur à faire valider ses objectifs climat par l'initiative SBTi en 2019, et il est dans l'indice CAC 40 ESG. Pour les agences de notation, on doit être transparents : on n'a pas pu accéder aux notes actuelles de MSCI, Sustainalytics ou du CDP, donc on les a marquées « à vérifier ». Par contre, deux évaluations d'ONG sont sévères. InfluenceMap note son lobbying climat D+. Amnesty lui donne 27 sur 90 sur les droits humains dans les batteries.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[Maxime JAEN – 0:50]</a:t>
            </a:r>
          </a:p>
          <a:p/>
          <a:p>
            <a:r>
              <a:t>On passe à la partie critique. Selon nous, plusieurs choses auraient pu être faites. D'abord, relever l'ambition climat, puisque les cibles 2030 sont déjà atteintes : viser 1,5 degré sur toute la chaîne de valeur. Ensuite, devenir société à mission, pour rendre la raison d'être vraiment engageante. Le label B Corp est peu adapté à un groupe coté de cette taille. Troisième piste : tracer les minerais jusqu'à la mine, parce que la politique de diligence raisonnable sur les batteries est encore « en construction ». Enfin, généraliser l'ISO 45001 et publier l'écart salarial pays par pays.</a:t>
            </a:r>
          </a:p>
          <a:p/>
          <a:p>
            <a:r>
              <a:t>Transition : Matheo va vous montrer comment les regards extérieurs confirment ces limites.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[Matheo PICARD – 1:10]</a:t>
            </a:r>
          </a:p>
          <a:p/>
          <a:p>
            <a:r>
              <a:t>Merci Maxime. Plusieurs faits externes nuancent le discours. Le plus lourd, c'est le dieselgate. Renault est mis en examen depuis 2021 pour tromperie aggravée sur des moteurs diesel vendus entre 2009 et 2017. En juillet 2026, il a été renvoyé devant le tribunal correctionnel. Le procès n'a pas encore eu lieu, donc Renault est présumé innocent. Deuxième fait : en avril 2025, la Commission européenne a condamné Renault et Nissan à 81 millions d'euros d'amende pour une entente sur le recyclage. Les constructeurs s'étaient mis d'accord pour ne pas mettre en avant le contenu recyclé de leurs voitures. C'est définitif. Il y a aussi l'affaire Ghosn, jugée en septembre à Paris, et la sortie de Russie, avec une option de retour jusqu'en 2028. Enfin, côté ONG, InfluenceMap rappelle que Luca de Meo, alors président de l'association des constructeurs européens, a plaidé pour reporter les objectifs CO2 de 2025.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[Matheo PICARD – 1:00]</a:t>
            </a:r>
          </a:p>
          <a:p/>
          <a:p>
            <a:r>
              <a:t>Ce tableau confronte les engagements écrits aux faits. Prenons l'exemple demandé : l'égalité salariale. La charte promettait de supprimer l'écart d'ici 2025 « dans tous les pays ». Renault dit l'avoir atteint dès 2023, avec même 0,8 % en faveur des femmes. Mais le DEU précise que ce calcul porte sur les cols blancs et les postes comparables, avec sa propre méthode. Donc l'objectif est tenu sur le périmètre choisi par Renault, mais ce n'est pas démontré pour tous les pays ni pour les ouvriers. Même logique ailleurs : l'objectif Net Zero des usines a été repoussé après 2035, et la cible de matières recyclées a été abaissée de 33 à 30 %.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[Matheo PICARD – 1:00]</a:t>
            </a:r>
          </a:p>
          <a:p/>
          <a:p>
            <a:r>
              <a:t>Pour comparer, on a d'abord cherché un standard GRI propre à l'automobile. Il n'en existe pas : la GRI a publié des standards sectoriels pour le pétrole, le charbon, l'agriculture et les mines, mais pas pour l'automobile. On a donc utilisé les standards thématiques, comme le 305 pour les émissions ou le 405 pour la diversité. Renault les couvre bien, sauf pour la chaîne d'approvisionnement. Face à Stellantis, le bilan est partagé. Renault fait mieux sur la part de voitures électriques en Europe : 11 % contre 8 %. Stellantis fait mieux sur les droits humains dans les batteries, avec 42 sur 90 contre 27, et sur la part de femmes dans le leadership. Les deux groupes partagent enfin les mêmes zones grises : le dieselgate et l'amende sur le recyclage.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[Matheo PICARD – 0:50]</a:t>
            </a:r>
          </a:p>
          <a:p/>
          <a:p>
            <a:r>
              <a:t>Pour conclure, notre bilan est nuancé. Renault a un vrai dispositif RSE : un reporting transparent, une gouvernance impliquée, des émissions en baisse de 38 % et une électrification réelle en Europe. Mais l'écart entre le discours et les faits reste net : des cibles déjà dépassées, des objectifs repoussés, un lobbying contre les règles CO2 et une chaîne des batteries mal maîtrisée. Notre réponse : la RSE de Renault produit des résultats surtout là où la loi et l'intérêt économique vont dans le même sens. Et si la loi recule, avec le 2035 assoupli et la CSRD allégée, la RSE de Renault continuera-t-elle d'avancer ?</a:t>
            </a:r>
          </a:p>
          <a:p/>
          <a:p>
            <a:r>
              <a:t>Transition : Nicolas va conclure notre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[Nicolas BINAND – 0:15]</a:t>
            </a:r>
          </a:p>
          <a:p/>
          <a:p>
            <a:r>
              <a:t>Toutes nos sources sont détaillées dans le rapport écrit : le DEU 2025 et les quatre chartes, complétés par la presse, les ONG et les décisions de justice. Merci de votre attention, nous sommes prêts pour vos questions. Et si vous souhaitez approfondir un point, le rapport contient tous les tableaux détaillés en annexe.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ounded Rectangle 1"/>
          <p:cNvSpPr/>
          <p:nvPr/>
        </p:nvSpPr>
        <p:spPr>
          <a:xfrm>
            <a:off x="548640" y="320040"/>
            <a:ext cx="1371600" cy="329184"/>
          </a:xfrm>
          <a:prstGeom prst="roundRect">
            <a:avLst>
              <a:gd name="adj" fmla="val 50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111111"/>
                </a:solidFill>
                <a:latin typeface="Calibri"/>
              </a:rPr>
              <a:t>INTRODUCTION</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D6C4A0"/>
                </a:solidFill>
                <a:latin typeface="Calibri"/>
              </a:rPr>
              <a:t>1</a:t>
            </a:r>
          </a:p>
        </p:txBody>
      </p:sp>
      <p:sp>
        <p:nvSpPr>
          <p:cNvPr id="4" name="TextBox 3"/>
          <p:cNvSpPr txBox="1"/>
          <p:nvPr/>
        </p:nvSpPr>
        <p:spPr>
          <a:xfrm>
            <a:off x="548640" y="1554480"/>
            <a:ext cx="10515600" cy="457200"/>
          </a:xfrm>
          <a:prstGeom prst="rect">
            <a:avLst/>
          </a:prstGeom>
          <a:noFill/>
        </p:spPr>
        <p:txBody>
          <a:bodyPr wrap="square" lIns="45720" rIns="45720" tIns="27432" bIns="27432" anchor="t">
            <a:spAutoFit/>
          </a:bodyPr>
          <a:lstStyle/>
          <a:p>
            <a:pPr algn="l"/>
            <a:r>
              <a:rPr sz="1600" b="1" i="0">
                <a:solidFill>
                  <a:srgbClr val="D6C4A0"/>
                </a:solidFill>
                <a:latin typeface="Calibri"/>
              </a:rPr>
              <a:t>ÉTUDE DE CAS RSE – EPITA</a:t>
            </a:r>
          </a:p>
        </p:txBody>
      </p:sp>
      <p:sp>
        <p:nvSpPr>
          <p:cNvPr id="5" name="TextBox 4"/>
          <p:cNvSpPr txBox="1"/>
          <p:nvPr/>
        </p:nvSpPr>
        <p:spPr>
          <a:xfrm>
            <a:off x="548640" y="2011680"/>
            <a:ext cx="10515600" cy="1645920"/>
          </a:xfrm>
          <a:prstGeom prst="rect">
            <a:avLst/>
          </a:prstGeom>
          <a:noFill/>
        </p:spPr>
        <p:txBody>
          <a:bodyPr wrap="square" lIns="45720" rIns="45720" tIns="27432" bIns="27432" anchor="t">
            <a:spAutoFit/>
          </a:bodyPr>
          <a:lstStyle/>
          <a:p>
            <a:pPr algn="l"/>
            <a:r>
              <a:rPr sz="4800" b="1" i="0">
                <a:solidFill>
                  <a:srgbClr val="FFFFFF"/>
                </a:solidFill>
                <a:latin typeface="Calibri"/>
              </a:rPr>
              <a:t>Analyse de la politique RSE</a:t>
            </a:r>
          </a:p>
          <a:p>
            <a:pPr algn="l"/>
            <a:r>
              <a:rPr sz="4800" b="1" i="0">
                <a:solidFill>
                  <a:srgbClr val="FFFFFF"/>
                </a:solidFill>
                <a:latin typeface="Calibri"/>
              </a:rPr>
              <a:t>de Renault Group</a:t>
            </a:r>
          </a:p>
        </p:txBody>
      </p:sp>
      <p:sp>
        <p:nvSpPr>
          <p:cNvPr id="6" name="TextBox 5"/>
          <p:cNvSpPr txBox="1"/>
          <p:nvPr/>
        </p:nvSpPr>
        <p:spPr>
          <a:xfrm>
            <a:off x="548640" y="3657600"/>
            <a:ext cx="10515600" cy="548640"/>
          </a:xfrm>
          <a:prstGeom prst="rect">
            <a:avLst/>
          </a:prstGeom>
          <a:noFill/>
        </p:spPr>
        <p:txBody>
          <a:bodyPr wrap="square" lIns="45720" rIns="45720" tIns="27432" bIns="27432" anchor="t">
            <a:spAutoFit/>
          </a:bodyPr>
          <a:lstStyle/>
          <a:p>
            <a:pPr algn="l"/>
            <a:r>
              <a:rPr sz="2200" b="0" i="1">
                <a:solidFill>
                  <a:srgbClr val="D6C4A0"/>
                </a:solidFill>
                <a:latin typeface="Calibri"/>
              </a:rPr>
              <a:t>Engagements écrits, résultats mesurés et regards externes</a:t>
            </a:r>
          </a:p>
        </p:txBody>
      </p:sp>
      <p:sp>
        <p:nvSpPr>
          <p:cNvPr id="7" name="Rectangle 6"/>
          <p:cNvSpPr/>
          <p:nvPr/>
        </p:nvSpPr>
        <p:spPr>
          <a:xfrm>
            <a:off x="548640" y="4480560"/>
            <a:ext cx="822960" cy="73152"/>
          </a:xfrm>
          <a:prstGeom prst="rect">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754880"/>
            <a:ext cx="10515600" cy="1280160"/>
          </a:xfrm>
          <a:prstGeom prst="rect">
            <a:avLst/>
          </a:prstGeom>
          <a:noFill/>
        </p:spPr>
        <p:txBody>
          <a:bodyPr wrap="square" lIns="45720" rIns="45720" tIns="27432" bIns="27432" anchor="t">
            <a:spAutoFit/>
          </a:bodyPr>
          <a:lstStyle/>
          <a:p>
            <a:pPr algn="l">
              <a:spcAft>
                <a:spcPts val="400"/>
              </a:spcAft>
            </a:pPr>
            <a:r>
              <a:rPr sz="1600" b="1" i="0">
                <a:solidFill>
                  <a:srgbClr val="FFFFFF"/>
                </a:solidFill>
                <a:latin typeface="Calibri"/>
              </a:rPr>
              <a:t>Nicolas BINAND · Danyil BAZAIN · Maxime JAEN · Matheo PICARD</a:t>
            </a:r>
          </a:p>
          <a:p>
            <a:pPr algn="l">
              <a:spcAft>
                <a:spcPts val="400"/>
              </a:spcAft>
            </a:pPr>
            <a:r>
              <a:rPr sz="1600" b="0" i="0">
                <a:solidFill>
                  <a:srgbClr val="D6C4A0"/>
                </a:solidFill>
                <a:latin typeface="Calibri"/>
              </a:rPr>
              <a:t>Cours : RSE (Responsabilité Sociétale des Entreprises) · Professeur : [Nom du professeur]</a:t>
            </a:r>
          </a:p>
          <a:p>
            <a:pPr algn="l">
              <a:spcAft>
                <a:spcPts val="400"/>
              </a:spcAft>
            </a:pPr>
            <a:r>
              <a:rPr sz="1600" b="0" i="0">
                <a:solidFill>
                  <a:srgbClr val="D6C4A0"/>
                </a:solidFill>
                <a:latin typeface="Calibri"/>
              </a:rPr>
              <a:t>Oral du vendredi 2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1371600"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INTRODUCTION</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2</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Renault Group en 2025</a:t>
            </a:r>
          </a:p>
        </p:txBody>
      </p:sp>
      <p:sp>
        <p:nvSpPr>
          <p:cNvPr id="5" name="Rounded Rectangle 4"/>
          <p:cNvSpPr/>
          <p:nvPr/>
        </p:nvSpPr>
        <p:spPr>
          <a:xfrm>
            <a:off x="548640" y="1783080"/>
            <a:ext cx="2606040" cy="1600200"/>
          </a:xfrm>
          <a:prstGeom prst="roundRect">
            <a:avLst>
              <a:gd name="adj" fmla="val 8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286000" cy="731520"/>
          </a:xfrm>
          <a:prstGeom prst="rect">
            <a:avLst/>
          </a:prstGeom>
          <a:noFill/>
        </p:spPr>
        <p:txBody>
          <a:bodyPr wrap="square" lIns="45720" rIns="45720" tIns="27432" bIns="27432" anchor="t">
            <a:spAutoFit/>
          </a:bodyPr>
          <a:lstStyle/>
          <a:p>
            <a:pPr algn="l"/>
            <a:r>
              <a:rPr sz="3600" b="1" i="0">
                <a:solidFill>
                  <a:srgbClr val="1A1A1A"/>
                </a:solidFill>
                <a:latin typeface="Calibri"/>
              </a:rPr>
              <a:t>2,34 M</a:t>
            </a:r>
          </a:p>
        </p:txBody>
      </p:sp>
      <p:sp>
        <p:nvSpPr>
          <p:cNvPr id="7" name="TextBox 6"/>
          <p:cNvSpPr txBox="1"/>
          <p:nvPr/>
        </p:nvSpPr>
        <p:spPr>
          <a:xfrm>
            <a:off x="731520" y="2633472"/>
            <a:ext cx="2286000" cy="548640"/>
          </a:xfrm>
          <a:prstGeom prst="rect">
            <a:avLst/>
          </a:prstGeom>
          <a:noFill/>
        </p:spPr>
        <p:txBody>
          <a:bodyPr wrap="square" lIns="45720" rIns="45720" tIns="27432" bIns="27432" anchor="t">
            <a:spAutoFit/>
          </a:bodyPr>
          <a:lstStyle/>
          <a:p>
            <a:pPr algn="l"/>
            <a:r>
              <a:rPr sz="1400" b="0" i="0">
                <a:solidFill>
                  <a:srgbClr val="5E5E5E"/>
                </a:solidFill>
                <a:latin typeface="Calibri"/>
              </a:rPr>
              <a:t>véhicules vendus</a:t>
            </a:r>
          </a:p>
        </p:txBody>
      </p:sp>
      <p:sp>
        <p:nvSpPr>
          <p:cNvPr id="8" name="Rounded Rectangle 7"/>
          <p:cNvSpPr/>
          <p:nvPr/>
        </p:nvSpPr>
        <p:spPr>
          <a:xfrm>
            <a:off x="3383280" y="1783080"/>
            <a:ext cx="2606040" cy="1600200"/>
          </a:xfrm>
          <a:prstGeom prst="roundRect">
            <a:avLst>
              <a:gd name="adj" fmla="val 8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920240"/>
            <a:ext cx="2286000" cy="731520"/>
          </a:xfrm>
          <a:prstGeom prst="rect">
            <a:avLst/>
          </a:prstGeom>
          <a:noFill/>
        </p:spPr>
        <p:txBody>
          <a:bodyPr wrap="square" lIns="45720" rIns="45720" tIns="27432" bIns="27432" anchor="t">
            <a:spAutoFit/>
          </a:bodyPr>
          <a:lstStyle/>
          <a:p>
            <a:pPr algn="l"/>
            <a:r>
              <a:rPr sz="3600" b="1" i="0">
                <a:solidFill>
                  <a:srgbClr val="1A1A1A"/>
                </a:solidFill>
                <a:latin typeface="Calibri"/>
              </a:rPr>
              <a:t>57,9 Md€</a:t>
            </a:r>
          </a:p>
        </p:txBody>
      </p:sp>
      <p:sp>
        <p:nvSpPr>
          <p:cNvPr id="10" name="TextBox 9"/>
          <p:cNvSpPr txBox="1"/>
          <p:nvPr/>
        </p:nvSpPr>
        <p:spPr>
          <a:xfrm>
            <a:off x="3566160" y="2633472"/>
            <a:ext cx="2286000" cy="548640"/>
          </a:xfrm>
          <a:prstGeom prst="rect">
            <a:avLst/>
          </a:prstGeom>
          <a:noFill/>
        </p:spPr>
        <p:txBody>
          <a:bodyPr wrap="square" lIns="45720" rIns="45720" tIns="27432" bIns="27432" anchor="t">
            <a:spAutoFit/>
          </a:bodyPr>
          <a:lstStyle/>
          <a:p>
            <a:pPr algn="l"/>
            <a:r>
              <a:rPr sz="1400" b="0" i="0">
                <a:solidFill>
                  <a:srgbClr val="5E5E5E"/>
                </a:solidFill>
                <a:latin typeface="Calibri"/>
              </a:rPr>
              <a:t>de chiffre d'affaires</a:t>
            </a:r>
          </a:p>
        </p:txBody>
      </p:sp>
      <p:sp>
        <p:nvSpPr>
          <p:cNvPr id="11" name="Rounded Rectangle 10"/>
          <p:cNvSpPr/>
          <p:nvPr/>
        </p:nvSpPr>
        <p:spPr>
          <a:xfrm>
            <a:off x="6217920" y="1783080"/>
            <a:ext cx="2606040" cy="1600200"/>
          </a:xfrm>
          <a:prstGeom prst="roundRect">
            <a:avLst>
              <a:gd name="adj" fmla="val 8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920240"/>
            <a:ext cx="2286000" cy="731520"/>
          </a:xfrm>
          <a:prstGeom prst="rect">
            <a:avLst/>
          </a:prstGeom>
          <a:noFill/>
        </p:spPr>
        <p:txBody>
          <a:bodyPr wrap="square" lIns="45720" rIns="45720" tIns="27432" bIns="27432" anchor="t">
            <a:spAutoFit/>
          </a:bodyPr>
          <a:lstStyle/>
          <a:p>
            <a:pPr algn="l"/>
            <a:r>
              <a:rPr sz="3600" b="1" i="0">
                <a:solidFill>
                  <a:srgbClr val="1A1A1A"/>
                </a:solidFill>
                <a:latin typeface="Calibri"/>
              </a:rPr>
              <a:t>100 541</a:t>
            </a:r>
          </a:p>
        </p:txBody>
      </p:sp>
      <p:sp>
        <p:nvSpPr>
          <p:cNvPr id="13" name="TextBox 12"/>
          <p:cNvSpPr txBox="1"/>
          <p:nvPr/>
        </p:nvSpPr>
        <p:spPr>
          <a:xfrm>
            <a:off x="6400800" y="2633472"/>
            <a:ext cx="2286000" cy="548640"/>
          </a:xfrm>
          <a:prstGeom prst="rect">
            <a:avLst/>
          </a:prstGeom>
          <a:noFill/>
        </p:spPr>
        <p:txBody>
          <a:bodyPr wrap="square" lIns="45720" rIns="45720" tIns="27432" bIns="27432" anchor="t">
            <a:spAutoFit/>
          </a:bodyPr>
          <a:lstStyle/>
          <a:p>
            <a:pPr algn="l"/>
            <a:r>
              <a:rPr sz="1400" b="0" i="0">
                <a:solidFill>
                  <a:srgbClr val="5E5E5E"/>
                </a:solidFill>
                <a:latin typeface="Calibri"/>
              </a:rPr>
              <a:t>salariés, 26 usines</a:t>
            </a:r>
          </a:p>
        </p:txBody>
      </p:sp>
      <p:sp>
        <p:nvSpPr>
          <p:cNvPr id="14" name="Rounded Rectangle 13"/>
          <p:cNvSpPr/>
          <p:nvPr/>
        </p:nvSpPr>
        <p:spPr>
          <a:xfrm>
            <a:off x="9052560" y="1783080"/>
            <a:ext cx="2606040" cy="1600200"/>
          </a:xfrm>
          <a:prstGeom prst="roundRect">
            <a:avLst>
              <a:gd name="adj" fmla="val 8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920240"/>
            <a:ext cx="2286000" cy="731520"/>
          </a:xfrm>
          <a:prstGeom prst="rect">
            <a:avLst/>
          </a:prstGeom>
          <a:noFill/>
        </p:spPr>
        <p:txBody>
          <a:bodyPr wrap="square" lIns="45720" rIns="45720" tIns="27432" bIns="27432" anchor="t">
            <a:spAutoFit/>
          </a:bodyPr>
          <a:lstStyle/>
          <a:p>
            <a:pPr algn="l"/>
            <a:r>
              <a:rPr sz="3600" b="1" i="0">
                <a:solidFill>
                  <a:srgbClr val="A32D2D"/>
                </a:solidFill>
                <a:latin typeface="Calibri"/>
              </a:rPr>
              <a:t>−10,9 Md€</a:t>
            </a:r>
          </a:p>
        </p:txBody>
      </p:sp>
      <p:sp>
        <p:nvSpPr>
          <p:cNvPr id="16" name="TextBox 15"/>
          <p:cNvSpPr txBox="1"/>
          <p:nvPr/>
        </p:nvSpPr>
        <p:spPr>
          <a:xfrm>
            <a:off x="9235440" y="2633472"/>
            <a:ext cx="2286000" cy="548640"/>
          </a:xfrm>
          <a:prstGeom prst="rect">
            <a:avLst/>
          </a:prstGeom>
          <a:noFill/>
        </p:spPr>
        <p:txBody>
          <a:bodyPr wrap="square" lIns="45720" rIns="45720" tIns="27432" bIns="27432" anchor="t">
            <a:spAutoFit/>
          </a:bodyPr>
          <a:lstStyle/>
          <a:p>
            <a:pPr algn="l"/>
            <a:r>
              <a:rPr sz="1400" b="0" i="0">
                <a:solidFill>
                  <a:srgbClr val="5E5E5E"/>
                </a:solidFill>
                <a:latin typeface="Calibri"/>
              </a:rPr>
              <a:t>résultat net (effet Nissan)</a:t>
            </a:r>
          </a:p>
        </p:txBody>
      </p:sp>
      <p:sp>
        <p:nvSpPr>
          <p:cNvPr id="17" name="Rounded Rectangle 16"/>
          <p:cNvSpPr/>
          <p:nvPr/>
        </p:nvSpPr>
        <p:spPr>
          <a:xfrm>
            <a:off x="548640" y="3703320"/>
            <a:ext cx="6766560" cy="1920240"/>
          </a:xfrm>
          <a:prstGeom prst="roundRect">
            <a:avLst>
              <a:gd name="adj" fmla="val 6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40480"/>
            <a:ext cx="6309360" cy="365760"/>
          </a:xfrm>
          <a:prstGeom prst="rect">
            <a:avLst/>
          </a:prstGeom>
          <a:noFill/>
        </p:spPr>
        <p:txBody>
          <a:bodyPr wrap="square" lIns="45720" rIns="45720" tIns="27432" bIns="27432" anchor="t">
            <a:spAutoFit/>
          </a:bodyPr>
          <a:lstStyle/>
          <a:p>
            <a:pPr algn="l"/>
            <a:r>
              <a:rPr sz="1200" b="1" i="0">
                <a:solidFill>
                  <a:srgbClr val="EFDF00"/>
                </a:solidFill>
                <a:latin typeface="Calibri"/>
              </a:rPr>
              <a:t>RAISON D'ÊTRE (loi PACTE, AG 2021)</a:t>
            </a:r>
          </a:p>
        </p:txBody>
      </p:sp>
      <p:sp>
        <p:nvSpPr>
          <p:cNvPr id="19" name="TextBox 18"/>
          <p:cNvSpPr txBox="1"/>
          <p:nvPr/>
        </p:nvSpPr>
        <p:spPr>
          <a:xfrm>
            <a:off x="822960" y="4251960"/>
            <a:ext cx="6309360" cy="1645920"/>
          </a:xfrm>
          <a:prstGeom prst="rect">
            <a:avLst/>
          </a:prstGeom>
          <a:noFill/>
        </p:spPr>
        <p:txBody>
          <a:bodyPr wrap="square" lIns="45720" rIns="45720" tIns="27432" bIns="27432" anchor="t">
            <a:spAutoFit/>
          </a:bodyPr>
          <a:lstStyle/>
          <a:p>
            <a:pPr algn="l"/>
            <a:r>
              <a:rPr sz="2000" b="0" i="1">
                <a:solidFill>
                  <a:srgbClr val="FFFFFF"/>
                </a:solidFill>
                <a:latin typeface="Calibri"/>
              </a:rPr>
              <a:t>« Nous faisons battre le cœur de l'innovation pour que la mobilité nous rapproche les uns des autres »</a:t>
            </a:r>
          </a:p>
        </p:txBody>
      </p:sp>
      <p:sp>
        <p:nvSpPr>
          <p:cNvPr id="20" name="TextBox 19"/>
          <p:cNvSpPr txBox="1"/>
          <p:nvPr/>
        </p:nvSpPr>
        <p:spPr>
          <a:xfrm>
            <a:off x="7680960" y="3703320"/>
            <a:ext cx="3931920" cy="365760"/>
          </a:xfrm>
          <a:prstGeom prst="rect">
            <a:avLst/>
          </a:prstGeom>
          <a:noFill/>
        </p:spPr>
        <p:txBody>
          <a:bodyPr wrap="square" lIns="45720" rIns="45720" tIns="27432" bIns="27432" anchor="t">
            <a:spAutoFit/>
          </a:bodyPr>
          <a:lstStyle/>
          <a:p>
            <a:pPr algn="l"/>
            <a:r>
              <a:rPr sz="1400" b="1" i="0">
                <a:solidFill>
                  <a:srgbClr val="5E5E5E"/>
                </a:solidFill>
                <a:latin typeface="Calibri"/>
              </a:rPr>
              <a:t>3 piliers de durabilité</a:t>
            </a:r>
          </a:p>
        </p:txBody>
      </p:sp>
      <p:sp>
        <p:nvSpPr>
          <p:cNvPr id="21" name="Oval 20"/>
          <p:cNvSpPr/>
          <p:nvPr/>
        </p:nvSpPr>
        <p:spPr>
          <a:xfrm>
            <a:off x="7680960" y="416052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EFDF00"/>
                </a:solidFill>
                <a:latin typeface="Calibri"/>
              </a:rPr>
              <a:t>1</a:t>
            </a:r>
          </a:p>
        </p:txBody>
      </p:sp>
      <p:sp>
        <p:nvSpPr>
          <p:cNvPr id="22" name="TextBox 21"/>
          <p:cNvSpPr txBox="1"/>
          <p:nvPr/>
        </p:nvSpPr>
        <p:spPr>
          <a:xfrm>
            <a:off x="8275320" y="4206240"/>
            <a:ext cx="3200400" cy="411480"/>
          </a:xfrm>
          <a:prstGeom prst="rect">
            <a:avLst/>
          </a:prstGeom>
          <a:noFill/>
        </p:spPr>
        <p:txBody>
          <a:bodyPr wrap="square" lIns="45720" rIns="45720" tIns="27432" bIns="27432" anchor="t">
            <a:spAutoFit/>
          </a:bodyPr>
          <a:lstStyle/>
          <a:p>
            <a:pPr algn="l"/>
            <a:r>
              <a:rPr sz="2000" b="1" i="0">
                <a:solidFill>
                  <a:srgbClr val="1A1A1A"/>
                </a:solidFill>
                <a:latin typeface="Calibri"/>
              </a:rPr>
              <a:t>Environnement</a:t>
            </a:r>
          </a:p>
        </p:txBody>
      </p:sp>
      <p:sp>
        <p:nvSpPr>
          <p:cNvPr id="23" name="Oval 22"/>
          <p:cNvSpPr/>
          <p:nvPr/>
        </p:nvSpPr>
        <p:spPr>
          <a:xfrm>
            <a:off x="7680960" y="48006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EFDF00"/>
                </a:solidFill>
                <a:latin typeface="Calibri"/>
              </a:rPr>
              <a:t>2</a:t>
            </a:r>
          </a:p>
        </p:txBody>
      </p:sp>
      <p:sp>
        <p:nvSpPr>
          <p:cNvPr id="24" name="TextBox 23"/>
          <p:cNvSpPr txBox="1"/>
          <p:nvPr/>
        </p:nvSpPr>
        <p:spPr>
          <a:xfrm>
            <a:off x="8275320" y="4846320"/>
            <a:ext cx="3200400" cy="411480"/>
          </a:xfrm>
          <a:prstGeom prst="rect">
            <a:avLst/>
          </a:prstGeom>
          <a:noFill/>
        </p:spPr>
        <p:txBody>
          <a:bodyPr wrap="square" lIns="45720" rIns="45720" tIns="27432" bIns="27432" anchor="t">
            <a:spAutoFit/>
          </a:bodyPr>
          <a:lstStyle/>
          <a:p>
            <a:pPr algn="l"/>
            <a:r>
              <a:rPr sz="2000" b="1" i="0">
                <a:solidFill>
                  <a:srgbClr val="1A1A1A"/>
                </a:solidFill>
                <a:latin typeface="Calibri"/>
              </a:rPr>
              <a:t>Sécurité</a:t>
            </a:r>
          </a:p>
        </p:txBody>
      </p:sp>
      <p:sp>
        <p:nvSpPr>
          <p:cNvPr id="25" name="Oval 24"/>
          <p:cNvSpPr/>
          <p:nvPr/>
        </p:nvSpPr>
        <p:spPr>
          <a:xfrm>
            <a:off x="7680960" y="5440679"/>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EFDF00"/>
                </a:solidFill>
                <a:latin typeface="Calibri"/>
              </a:rPr>
              <a:t>3</a:t>
            </a:r>
          </a:p>
        </p:txBody>
      </p:sp>
      <p:sp>
        <p:nvSpPr>
          <p:cNvPr id="26" name="TextBox 25"/>
          <p:cNvSpPr txBox="1"/>
          <p:nvPr/>
        </p:nvSpPr>
        <p:spPr>
          <a:xfrm>
            <a:off x="8275320" y="5486399"/>
            <a:ext cx="3200400" cy="411480"/>
          </a:xfrm>
          <a:prstGeom prst="rect">
            <a:avLst/>
          </a:prstGeom>
          <a:noFill/>
        </p:spPr>
        <p:txBody>
          <a:bodyPr wrap="square" lIns="45720" rIns="45720" tIns="27432" bIns="27432" anchor="t">
            <a:spAutoFit/>
          </a:bodyPr>
          <a:lstStyle/>
          <a:p>
            <a:pPr algn="l"/>
            <a:r>
              <a:rPr sz="2000" b="1" i="0">
                <a:solidFill>
                  <a:srgbClr val="1A1A1A"/>
                </a:solidFill>
                <a:latin typeface="Calibri"/>
              </a:rPr>
              <a:t>Inclusion</a:t>
            </a:r>
          </a:p>
        </p:txBody>
      </p:sp>
      <p:sp>
        <p:nvSpPr>
          <p:cNvPr id="27" name="TextBox 26"/>
          <p:cNvSpPr txBox="1"/>
          <p:nvPr/>
        </p:nvSpPr>
        <p:spPr>
          <a:xfrm>
            <a:off x="7680960" y="6035040"/>
            <a:ext cx="4023360" cy="320040"/>
          </a:xfrm>
          <a:prstGeom prst="rect">
            <a:avLst/>
          </a:prstGeom>
          <a:noFill/>
        </p:spPr>
        <p:txBody>
          <a:bodyPr wrap="square" lIns="45720" rIns="45720" tIns="27432" bIns="27432" anchor="t">
            <a:spAutoFit/>
          </a:bodyPr>
          <a:lstStyle/>
          <a:p>
            <a:pPr algn="l"/>
            <a:r>
              <a:rPr sz="1200" b="0" i="0">
                <a:solidFill>
                  <a:srgbClr val="5E5E5E"/>
                </a:solidFill>
                <a:latin typeface="Calibri"/>
              </a:rPr>
              <a:t>Marques : Renault · Dacia · Alpine · Mobilize</a:t>
            </a:r>
          </a:p>
        </p:txBody>
      </p:sp>
      <p:sp>
        <p:nvSpPr>
          <p:cNvPr id="28" name="TextBox 27"/>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 : Renault Group, DEU 2025, p. 10-15, 83, 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1371600"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INTRODUCTION</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3</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Un cadre réglementaire exigeant… et mouvant</a:t>
            </a:r>
          </a:p>
        </p:txBody>
      </p:sp>
      <p:cxnSp>
        <p:nvCxnSpPr>
          <p:cNvPr id="5" name="Connector 4"/>
          <p:cNvCxnSpPr/>
          <p:nvPr/>
        </p:nvCxnSpPr>
        <p:spPr>
          <a:xfrm>
            <a:off x="1280160" y="3291840"/>
            <a:ext cx="9601200" cy="0"/>
          </a:xfrm>
          <a:prstGeom prst="line">
            <a:avLst/>
          </a:prstGeom>
          <a:ln w="25400">
            <a:solidFill>
              <a:srgbClr val="5E5E5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124712" y="3136392"/>
            <a:ext cx="310896" cy="310896"/>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03120"/>
            <a:ext cx="1554480" cy="548640"/>
          </a:xfrm>
          <a:prstGeom prst="rect">
            <a:avLst/>
          </a:prstGeom>
          <a:noFill/>
        </p:spPr>
        <p:txBody>
          <a:bodyPr wrap="square" lIns="45720" rIns="45720" tIns="27432" bIns="27432" anchor="t">
            <a:spAutoFit/>
          </a:bodyPr>
          <a:lstStyle/>
          <a:p>
            <a:pPr algn="ctr"/>
            <a:r>
              <a:rPr sz="2600" b="1" i="0">
                <a:solidFill>
                  <a:srgbClr val="1A1A1A"/>
                </a:solidFill>
                <a:latin typeface="Calibri"/>
              </a:rPr>
              <a:t>2016</a:t>
            </a:r>
          </a:p>
        </p:txBody>
      </p:sp>
      <p:sp>
        <p:nvSpPr>
          <p:cNvPr id="8" name="TextBox 7"/>
          <p:cNvSpPr txBox="1"/>
          <p:nvPr/>
        </p:nvSpPr>
        <p:spPr>
          <a:xfrm>
            <a:off x="5029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Loi Sapin II</a:t>
            </a:r>
          </a:p>
        </p:txBody>
      </p:sp>
      <p:sp>
        <p:nvSpPr>
          <p:cNvPr id="9" name="TextBox 8"/>
          <p:cNvSpPr txBox="1"/>
          <p:nvPr/>
        </p:nvSpPr>
        <p:spPr>
          <a:xfrm>
            <a:off x="5029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anticorruption</a:t>
            </a:r>
          </a:p>
        </p:txBody>
      </p:sp>
      <p:sp>
        <p:nvSpPr>
          <p:cNvPr id="10" name="Oval 9"/>
          <p:cNvSpPr/>
          <p:nvPr/>
        </p:nvSpPr>
        <p:spPr>
          <a:xfrm>
            <a:off x="2724912" y="3136392"/>
            <a:ext cx="310896" cy="310896"/>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2103120"/>
            <a:ext cx="1554480" cy="548640"/>
          </a:xfrm>
          <a:prstGeom prst="rect">
            <a:avLst/>
          </a:prstGeom>
          <a:noFill/>
        </p:spPr>
        <p:txBody>
          <a:bodyPr wrap="square" lIns="45720" rIns="45720" tIns="27432" bIns="27432" anchor="t">
            <a:spAutoFit/>
          </a:bodyPr>
          <a:lstStyle/>
          <a:p>
            <a:pPr algn="ctr"/>
            <a:r>
              <a:rPr sz="2600" b="1" i="0">
                <a:solidFill>
                  <a:srgbClr val="1A1A1A"/>
                </a:solidFill>
                <a:latin typeface="Calibri"/>
              </a:rPr>
              <a:t>2017</a:t>
            </a:r>
          </a:p>
        </p:txBody>
      </p:sp>
      <p:sp>
        <p:nvSpPr>
          <p:cNvPr id="12" name="TextBox 11"/>
          <p:cNvSpPr txBox="1"/>
          <p:nvPr/>
        </p:nvSpPr>
        <p:spPr>
          <a:xfrm>
            <a:off x="21031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Devoir de vigilance</a:t>
            </a:r>
          </a:p>
        </p:txBody>
      </p:sp>
      <p:sp>
        <p:nvSpPr>
          <p:cNvPr id="13" name="TextBox 12"/>
          <p:cNvSpPr txBox="1"/>
          <p:nvPr/>
        </p:nvSpPr>
        <p:spPr>
          <a:xfrm>
            <a:off x="21031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plan de vigilance</a:t>
            </a:r>
          </a:p>
        </p:txBody>
      </p:sp>
      <p:sp>
        <p:nvSpPr>
          <p:cNvPr id="14" name="Oval 13"/>
          <p:cNvSpPr/>
          <p:nvPr/>
        </p:nvSpPr>
        <p:spPr>
          <a:xfrm>
            <a:off x="4325112" y="3136392"/>
            <a:ext cx="310896" cy="310896"/>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2103120"/>
            <a:ext cx="1554480" cy="548640"/>
          </a:xfrm>
          <a:prstGeom prst="rect">
            <a:avLst/>
          </a:prstGeom>
          <a:noFill/>
        </p:spPr>
        <p:txBody>
          <a:bodyPr wrap="square" lIns="45720" rIns="45720" tIns="27432" bIns="27432" anchor="t">
            <a:spAutoFit/>
          </a:bodyPr>
          <a:lstStyle/>
          <a:p>
            <a:pPr algn="ctr"/>
            <a:r>
              <a:rPr sz="2600" b="1" i="0">
                <a:solidFill>
                  <a:srgbClr val="1A1A1A"/>
                </a:solidFill>
                <a:latin typeface="Calibri"/>
              </a:rPr>
              <a:t>2019</a:t>
            </a:r>
          </a:p>
        </p:txBody>
      </p:sp>
      <p:sp>
        <p:nvSpPr>
          <p:cNvPr id="16" name="TextBox 15"/>
          <p:cNvSpPr txBox="1"/>
          <p:nvPr/>
        </p:nvSpPr>
        <p:spPr>
          <a:xfrm>
            <a:off x="37033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Loi PACTE</a:t>
            </a:r>
          </a:p>
        </p:txBody>
      </p:sp>
      <p:sp>
        <p:nvSpPr>
          <p:cNvPr id="17" name="TextBox 16"/>
          <p:cNvSpPr txBox="1"/>
          <p:nvPr/>
        </p:nvSpPr>
        <p:spPr>
          <a:xfrm>
            <a:off x="37033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raison d'être</a:t>
            </a:r>
          </a:p>
        </p:txBody>
      </p:sp>
      <p:sp>
        <p:nvSpPr>
          <p:cNvPr id="18" name="Oval 17"/>
          <p:cNvSpPr/>
          <p:nvPr/>
        </p:nvSpPr>
        <p:spPr>
          <a:xfrm>
            <a:off x="5925312" y="3136392"/>
            <a:ext cx="310896" cy="310896"/>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0" y="2103120"/>
            <a:ext cx="1554480" cy="548640"/>
          </a:xfrm>
          <a:prstGeom prst="rect">
            <a:avLst/>
          </a:prstGeom>
          <a:noFill/>
        </p:spPr>
        <p:txBody>
          <a:bodyPr wrap="square" lIns="45720" rIns="45720" tIns="27432" bIns="27432" anchor="t">
            <a:spAutoFit/>
          </a:bodyPr>
          <a:lstStyle/>
          <a:p>
            <a:pPr algn="ctr"/>
            <a:r>
              <a:rPr sz="2600" b="1" i="0">
                <a:solidFill>
                  <a:srgbClr val="1A1A1A"/>
                </a:solidFill>
                <a:latin typeface="Calibri"/>
              </a:rPr>
              <a:t>2020</a:t>
            </a:r>
          </a:p>
        </p:txBody>
      </p:sp>
      <p:sp>
        <p:nvSpPr>
          <p:cNvPr id="20" name="TextBox 19"/>
          <p:cNvSpPr txBox="1"/>
          <p:nvPr/>
        </p:nvSpPr>
        <p:spPr>
          <a:xfrm>
            <a:off x="53035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Taxonomie UE</a:t>
            </a:r>
          </a:p>
        </p:txBody>
      </p:sp>
      <p:sp>
        <p:nvSpPr>
          <p:cNvPr id="21" name="TextBox 20"/>
          <p:cNvSpPr txBox="1"/>
          <p:nvPr/>
        </p:nvSpPr>
        <p:spPr>
          <a:xfrm>
            <a:off x="53035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activités « vertes »</a:t>
            </a:r>
          </a:p>
        </p:txBody>
      </p:sp>
      <p:sp>
        <p:nvSpPr>
          <p:cNvPr id="22" name="Oval 21"/>
          <p:cNvSpPr/>
          <p:nvPr/>
        </p:nvSpPr>
        <p:spPr>
          <a:xfrm>
            <a:off x="7525512" y="3136392"/>
            <a:ext cx="310896" cy="310896"/>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2103120"/>
            <a:ext cx="1554480" cy="548640"/>
          </a:xfrm>
          <a:prstGeom prst="rect">
            <a:avLst/>
          </a:prstGeom>
          <a:noFill/>
        </p:spPr>
        <p:txBody>
          <a:bodyPr wrap="square" lIns="45720" rIns="45720" tIns="27432" bIns="27432" anchor="t">
            <a:spAutoFit/>
          </a:bodyPr>
          <a:lstStyle/>
          <a:p>
            <a:pPr algn="ctr"/>
            <a:r>
              <a:rPr sz="2600" b="1" i="0">
                <a:solidFill>
                  <a:srgbClr val="1A1A1A"/>
                </a:solidFill>
                <a:latin typeface="Calibri"/>
              </a:rPr>
              <a:t>2024</a:t>
            </a:r>
          </a:p>
        </p:txBody>
      </p:sp>
      <p:sp>
        <p:nvSpPr>
          <p:cNvPr id="24" name="TextBox 23"/>
          <p:cNvSpPr txBox="1"/>
          <p:nvPr/>
        </p:nvSpPr>
        <p:spPr>
          <a:xfrm>
            <a:off x="69037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CSRD / ESRS</a:t>
            </a:r>
          </a:p>
        </p:txBody>
      </p:sp>
      <p:sp>
        <p:nvSpPr>
          <p:cNvPr id="25" name="TextBox 24"/>
          <p:cNvSpPr txBox="1"/>
          <p:nvPr/>
        </p:nvSpPr>
        <p:spPr>
          <a:xfrm>
            <a:off x="69037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état de durabilité audité</a:t>
            </a:r>
          </a:p>
        </p:txBody>
      </p:sp>
      <p:sp>
        <p:nvSpPr>
          <p:cNvPr id="26" name="Oval 25"/>
          <p:cNvSpPr/>
          <p:nvPr/>
        </p:nvSpPr>
        <p:spPr>
          <a:xfrm>
            <a:off x="9125712" y="3136392"/>
            <a:ext cx="310896" cy="310896"/>
          </a:xfrm>
          <a:prstGeom prst="ellipse">
            <a:avLst/>
          </a:prstGeom>
          <a:solidFill>
            <a:srgbClr val="B08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2103120"/>
            <a:ext cx="1554480" cy="548640"/>
          </a:xfrm>
          <a:prstGeom prst="rect">
            <a:avLst/>
          </a:prstGeom>
          <a:noFill/>
        </p:spPr>
        <p:txBody>
          <a:bodyPr wrap="square" lIns="45720" rIns="45720" tIns="27432" bIns="27432" anchor="t">
            <a:spAutoFit/>
          </a:bodyPr>
          <a:lstStyle/>
          <a:p>
            <a:pPr algn="ctr"/>
            <a:r>
              <a:rPr sz="2600" b="1" i="0">
                <a:solidFill>
                  <a:srgbClr val="B0852F"/>
                </a:solidFill>
                <a:latin typeface="Calibri"/>
              </a:rPr>
              <a:t>2025</a:t>
            </a:r>
          </a:p>
        </p:txBody>
      </p:sp>
      <p:sp>
        <p:nvSpPr>
          <p:cNvPr id="28" name="TextBox 27"/>
          <p:cNvSpPr txBox="1"/>
          <p:nvPr/>
        </p:nvSpPr>
        <p:spPr>
          <a:xfrm>
            <a:off x="85039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Assouplissements</a:t>
            </a:r>
          </a:p>
        </p:txBody>
      </p:sp>
      <p:sp>
        <p:nvSpPr>
          <p:cNvPr id="29" name="TextBox 28"/>
          <p:cNvSpPr txBox="1"/>
          <p:nvPr/>
        </p:nvSpPr>
        <p:spPr>
          <a:xfrm>
            <a:off x="85039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CO2 2025-27, Omnibus</a:t>
            </a:r>
          </a:p>
        </p:txBody>
      </p:sp>
      <p:sp>
        <p:nvSpPr>
          <p:cNvPr id="30" name="Oval 29"/>
          <p:cNvSpPr/>
          <p:nvPr/>
        </p:nvSpPr>
        <p:spPr>
          <a:xfrm>
            <a:off x="10725912" y="3136392"/>
            <a:ext cx="310896" cy="310896"/>
          </a:xfrm>
          <a:prstGeom prst="ellipse">
            <a:avLst/>
          </a:prstGeom>
          <a:solidFill>
            <a:srgbClr val="B08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04120" y="2103120"/>
            <a:ext cx="1554480" cy="548640"/>
          </a:xfrm>
          <a:prstGeom prst="rect">
            <a:avLst/>
          </a:prstGeom>
          <a:noFill/>
        </p:spPr>
        <p:txBody>
          <a:bodyPr wrap="square" lIns="45720" rIns="45720" tIns="27432" bIns="27432" anchor="t">
            <a:spAutoFit/>
          </a:bodyPr>
          <a:lstStyle/>
          <a:p>
            <a:pPr algn="ctr"/>
            <a:r>
              <a:rPr sz="2600" b="1" i="0">
                <a:solidFill>
                  <a:srgbClr val="B0852F"/>
                </a:solidFill>
                <a:latin typeface="Calibri"/>
              </a:rPr>
              <a:t>2035</a:t>
            </a:r>
          </a:p>
        </p:txBody>
      </p:sp>
      <p:sp>
        <p:nvSpPr>
          <p:cNvPr id="32" name="TextBox 31"/>
          <p:cNvSpPr txBox="1"/>
          <p:nvPr/>
        </p:nvSpPr>
        <p:spPr>
          <a:xfrm>
            <a:off x="10104120" y="3611880"/>
            <a:ext cx="1554480" cy="457200"/>
          </a:xfrm>
          <a:prstGeom prst="rect">
            <a:avLst/>
          </a:prstGeom>
          <a:noFill/>
        </p:spPr>
        <p:txBody>
          <a:bodyPr wrap="square" lIns="45720" rIns="45720" tIns="27432" bIns="27432" anchor="t">
            <a:spAutoFit/>
          </a:bodyPr>
          <a:lstStyle/>
          <a:p>
            <a:pPr algn="ctr"/>
            <a:r>
              <a:rPr sz="1500" b="1" i="0">
                <a:solidFill>
                  <a:srgbClr val="1A1A1A"/>
                </a:solidFill>
                <a:latin typeface="Calibri"/>
              </a:rPr>
              <a:t>Fin du thermique ?</a:t>
            </a:r>
          </a:p>
        </p:txBody>
      </p:sp>
      <p:sp>
        <p:nvSpPr>
          <p:cNvPr id="33" name="TextBox 32"/>
          <p:cNvSpPr txBox="1"/>
          <p:nvPr/>
        </p:nvSpPr>
        <p:spPr>
          <a:xfrm>
            <a:off x="10104120" y="4297680"/>
            <a:ext cx="1554480" cy="548640"/>
          </a:xfrm>
          <a:prstGeom prst="rect">
            <a:avLst/>
          </a:prstGeom>
          <a:noFill/>
        </p:spPr>
        <p:txBody>
          <a:bodyPr wrap="square" lIns="45720" rIns="45720" tIns="27432" bIns="27432" anchor="t">
            <a:spAutoFit/>
          </a:bodyPr>
          <a:lstStyle/>
          <a:p>
            <a:pPr algn="ctr"/>
            <a:r>
              <a:rPr sz="1200" b="0" i="0">
                <a:solidFill>
                  <a:srgbClr val="5E5E5E"/>
                </a:solidFill>
                <a:latin typeface="Calibri"/>
              </a:rPr>
              <a:t>−100 % → −90 % proposé</a:t>
            </a:r>
          </a:p>
        </p:txBody>
      </p:sp>
      <p:sp>
        <p:nvSpPr>
          <p:cNvPr id="34" name="Rounded Rectangle 33"/>
          <p:cNvSpPr/>
          <p:nvPr/>
        </p:nvSpPr>
        <p:spPr>
          <a:xfrm>
            <a:off x="548640" y="5074920"/>
            <a:ext cx="11064240" cy="822960"/>
          </a:xfrm>
          <a:prstGeom prst="roundRect">
            <a:avLst>
              <a:gd name="adj" fmla="val 10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120640"/>
            <a:ext cx="10607040" cy="731520"/>
          </a:xfrm>
          <a:prstGeom prst="rect">
            <a:avLst/>
          </a:prstGeom>
          <a:noFill/>
        </p:spPr>
        <p:txBody>
          <a:bodyPr wrap="square" lIns="45720" rIns="45720" tIns="27432" bIns="27432" anchor="ctr">
            <a:spAutoFit/>
          </a:bodyPr>
          <a:lstStyle/>
          <a:p>
            <a:pPr algn="l"/>
            <a:r>
              <a:rPr sz="1700" b="1" i="0">
                <a:solidFill>
                  <a:srgbClr val="1A1A1A"/>
                </a:solidFill>
                <a:latin typeface="Calibri"/>
              </a:rPr>
              <a:t>Enjeu de l'analyse : </a:t>
            </a:r>
            <a:r>
              <a:rPr sz="1700" b="0" i="0">
                <a:solidFill>
                  <a:srgbClr val="1A1A1A"/>
                </a:solidFill>
                <a:latin typeface="Calibri"/>
              </a:rPr>
              <a:t>distinguer ce que Renault fait par obligation légale de ce qu'il fait volontairement.</a:t>
            </a:r>
          </a:p>
        </p:txBody>
      </p:sp>
      <p:sp>
        <p:nvSpPr>
          <p:cNvPr id="36" name="TextBox 35"/>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Code de conduite anticorruption 2025 ; DEU 2025 ; Parlement européen (08/05/2025) ; Toute l'Europe (déc. 2025) ; EY (Omnibus).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1371600"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INTRODUCTION</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4</a:t>
            </a:r>
          </a:p>
        </p:txBody>
      </p:sp>
      <p:sp>
        <p:nvSpPr>
          <p:cNvPr id="4" name="TextBox 3"/>
          <p:cNvSpPr txBox="1"/>
          <p:nvPr/>
        </p:nvSpPr>
        <p:spPr>
          <a:xfrm>
            <a:off x="548640" y="1097280"/>
            <a:ext cx="11064240" cy="365760"/>
          </a:xfrm>
          <a:prstGeom prst="rect">
            <a:avLst/>
          </a:prstGeom>
          <a:noFill/>
        </p:spPr>
        <p:txBody>
          <a:bodyPr wrap="square" lIns="45720" rIns="45720" tIns="27432" bIns="27432" anchor="t">
            <a:spAutoFit/>
          </a:bodyPr>
          <a:lstStyle/>
          <a:p>
            <a:pPr algn="l"/>
            <a:r>
              <a:rPr sz="1400" b="1" i="0">
                <a:solidFill>
                  <a:srgbClr val="B0852F"/>
                </a:solidFill>
                <a:latin typeface="Calibri"/>
              </a:rPr>
              <a:t>PROBLÉMATIQUE</a:t>
            </a:r>
          </a:p>
        </p:txBody>
      </p:sp>
      <p:sp>
        <p:nvSpPr>
          <p:cNvPr id="5" name="TextBox 4"/>
          <p:cNvSpPr txBox="1"/>
          <p:nvPr/>
        </p:nvSpPr>
        <p:spPr>
          <a:xfrm>
            <a:off x="548640" y="1508760"/>
            <a:ext cx="11064240" cy="1645920"/>
          </a:xfrm>
          <a:prstGeom prst="rect">
            <a:avLst/>
          </a:prstGeom>
          <a:noFill/>
        </p:spPr>
        <p:txBody>
          <a:bodyPr wrap="square" lIns="45720" rIns="45720" tIns="27432" bIns="27432" anchor="t">
            <a:spAutoFit/>
          </a:bodyPr>
          <a:lstStyle/>
          <a:p>
            <a:pPr algn="l"/>
            <a:r>
              <a:rPr sz="3000" b="1" i="0">
                <a:solidFill>
                  <a:srgbClr val="1A1A1A"/>
                </a:solidFill>
                <a:latin typeface="Calibri"/>
              </a:rPr>
              <a:t>Dans quelle mesure la politique RSE de Renault Group, très structurée sur le papier, se traduit-elle par des résultats à la hauteur de ses engagements ?</a:t>
            </a:r>
          </a:p>
        </p:txBody>
      </p:sp>
      <p:sp>
        <p:nvSpPr>
          <p:cNvPr id="6" name="Rounded Rectangle 5"/>
          <p:cNvSpPr/>
          <p:nvPr/>
        </p:nvSpPr>
        <p:spPr>
          <a:xfrm>
            <a:off x="548640" y="3749039"/>
            <a:ext cx="5394960" cy="2103120"/>
          </a:xfrm>
          <a:prstGeom prst="roundRect">
            <a:avLst>
              <a:gd name="adj" fmla="val 6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886200"/>
            <a:ext cx="1097280" cy="914400"/>
          </a:xfrm>
          <a:prstGeom prst="rect">
            <a:avLst/>
          </a:prstGeom>
          <a:noFill/>
        </p:spPr>
        <p:txBody>
          <a:bodyPr wrap="square" lIns="45720" rIns="45720" tIns="27432" bIns="27432" anchor="t">
            <a:spAutoFit/>
          </a:bodyPr>
          <a:lstStyle/>
          <a:p>
            <a:pPr algn="l"/>
            <a:r>
              <a:rPr sz="4800" b="1" i="0">
                <a:solidFill>
                  <a:srgbClr val="EFDF00"/>
                </a:solidFill>
                <a:latin typeface="Calibri"/>
              </a:rPr>
              <a:t>I</a:t>
            </a:r>
          </a:p>
        </p:txBody>
      </p:sp>
      <p:sp>
        <p:nvSpPr>
          <p:cNvPr id="8" name="TextBox 7"/>
          <p:cNvSpPr txBox="1"/>
          <p:nvPr/>
        </p:nvSpPr>
        <p:spPr>
          <a:xfrm>
            <a:off x="1828800" y="4069080"/>
            <a:ext cx="3931920" cy="548640"/>
          </a:xfrm>
          <a:prstGeom prst="rect">
            <a:avLst/>
          </a:prstGeom>
          <a:noFill/>
        </p:spPr>
        <p:txBody>
          <a:bodyPr wrap="square" lIns="45720" rIns="45720" tIns="27432" bIns="27432" anchor="t">
            <a:spAutoFit/>
          </a:bodyPr>
          <a:lstStyle/>
          <a:p>
            <a:pPr algn="l"/>
            <a:r>
              <a:rPr sz="2200" b="1" i="0">
                <a:solidFill>
                  <a:srgbClr val="FFFFFF"/>
                </a:solidFill>
                <a:latin typeface="Calibri"/>
              </a:rPr>
              <a:t>Une démarche RSE structurée</a:t>
            </a:r>
          </a:p>
        </p:txBody>
      </p:sp>
      <p:sp>
        <p:nvSpPr>
          <p:cNvPr id="9" name="TextBox 8"/>
          <p:cNvSpPr txBox="1"/>
          <p:nvPr/>
        </p:nvSpPr>
        <p:spPr>
          <a:xfrm>
            <a:off x="1828800" y="4709160"/>
            <a:ext cx="3931920" cy="1005840"/>
          </a:xfrm>
          <a:prstGeom prst="rect">
            <a:avLst/>
          </a:prstGeom>
          <a:noFill/>
        </p:spPr>
        <p:txBody>
          <a:bodyPr wrap="square" lIns="45720" rIns="45720" tIns="27432" bIns="27432" anchor="t">
            <a:spAutoFit/>
          </a:bodyPr>
          <a:lstStyle/>
          <a:p>
            <a:pPr algn="l"/>
            <a:r>
              <a:rPr sz="1500" b="0" i="0">
                <a:solidFill>
                  <a:srgbClr val="D6C4A0"/>
                </a:solidFill>
                <a:latin typeface="Calibri"/>
              </a:rPr>
              <a:t>Étude du rapport RSE · Actions concrètes · Chartes · Labels · Notations</a:t>
            </a:r>
          </a:p>
        </p:txBody>
      </p:sp>
      <p:sp>
        <p:nvSpPr>
          <p:cNvPr id="10" name="Rounded Rectangle 9"/>
          <p:cNvSpPr/>
          <p:nvPr/>
        </p:nvSpPr>
        <p:spPr>
          <a:xfrm>
            <a:off x="6217920" y="3749039"/>
            <a:ext cx="5394960" cy="2103120"/>
          </a:xfrm>
          <a:prstGeom prst="roundRect">
            <a:avLst>
              <a:gd name="adj" fmla="val 6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886200"/>
            <a:ext cx="1097280" cy="914400"/>
          </a:xfrm>
          <a:prstGeom prst="rect">
            <a:avLst/>
          </a:prstGeom>
          <a:noFill/>
        </p:spPr>
        <p:txBody>
          <a:bodyPr wrap="square" lIns="45720" rIns="45720" tIns="27432" bIns="27432" anchor="t">
            <a:spAutoFit/>
          </a:bodyPr>
          <a:lstStyle/>
          <a:p>
            <a:pPr algn="l"/>
            <a:r>
              <a:rPr sz="4800" b="1" i="0">
                <a:solidFill>
                  <a:srgbClr val="B0852F"/>
                </a:solidFill>
                <a:latin typeface="Calibri"/>
              </a:rPr>
              <a:t>II</a:t>
            </a:r>
          </a:p>
        </p:txBody>
      </p:sp>
      <p:sp>
        <p:nvSpPr>
          <p:cNvPr id="12" name="TextBox 11"/>
          <p:cNvSpPr txBox="1"/>
          <p:nvPr/>
        </p:nvSpPr>
        <p:spPr>
          <a:xfrm>
            <a:off x="7498079" y="4069080"/>
            <a:ext cx="3931920" cy="548640"/>
          </a:xfrm>
          <a:prstGeom prst="rect">
            <a:avLst/>
          </a:prstGeom>
          <a:noFill/>
        </p:spPr>
        <p:txBody>
          <a:bodyPr wrap="square" lIns="45720" rIns="45720" tIns="27432" bIns="27432" anchor="t">
            <a:spAutoFit/>
          </a:bodyPr>
          <a:lstStyle/>
          <a:p>
            <a:pPr algn="l"/>
            <a:r>
              <a:rPr sz="2200" b="1" i="0">
                <a:solidFill>
                  <a:srgbClr val="1A1A1A"/>
                </a:solidFill>
                <a:latin typeface="Calibri"/>
              </a:rPr>
              <a:t>Une performance à nuancer</a:t>
            </a:r>
          </a:p>
        </p:txBody>
      </p:sp>
      <p:sp>
        <p:nvSpPr>
          <p:cNvPr id="13" name="TextBox 12"/>
          <p:cNvSpPr txBox="1"/>
          <p:nvPr/>
        </p:nvSpPr>
        <p:spPr>
          <a:xfrm>
            <a:off x="7498079" y="4709160"/>
            <a:ext cx="3931920" cy="1005840"/>
          </a:xfrm>
          <a:prstGeom prst="rect">
            <a:avLst/>
          </a:prstGeom>
          <a:noFill/>
        </p:spPr>
        <p:txBody>
          <a:bodyPr wrap="square" lIns="45720" rIns="45720" tIns="27432" bIns="27432" anchor="t">
            <a:spAutoFit/>
          </a:bodyPr>
          <a:lstStyle/>
          <a:p>
            <a:pPr algn="l"/>
            <a:r>
              <a:rPr sz="1500" b="0" i="0">
                <a:solidFill>
                  <a:srgbClr val="5E5E5E"/>
                </a:solidFill>
                <a:latin typeface="Calibri"/>
              </a:rPr>
              <a:t>Analyse critique · Regards externes · GRI · Comparaison Stellantis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715768"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I.1 – ÉTUDE DU RAPPORT RSE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5</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Le DEU 2025 et la double matérialité</a:t>
            </a:r>
          </a:p>
        </p:txBody>
      </p:sp>
      <p:sp>
        <p:nvSpPr>
          <p:cNvPr id="5" name="Rounded Rectangle 4"/>
          <p:cNvSpPr/>
          <p:nvPr/>
        </p:nvSpPr>
        <p:spPr>
          <a:xfrm>
            <a:off x="548640" y="1783080"/>
            <a:ext cx="4937760" cy="86868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4937760" cy="868680"/>
          </a:xfrm>
          <a:prstGeom prst="rect">
            <a:avLst/>
          </a:prstGeom>
          <a:noFill/>
        </p:spPr>
        <p:txBody>
          <a:bodyPr wrap="square" lIns="45720" rIns="45720" tIns="27432" bIns="27432" anchor="ctr">
            <a:spAutoFit/>
          </a:bodyPr>
          <a:lstStyle/>
          <a:p>
            <a:pPr algn="ctr"/>
            <a:r>
              <a:rPr sz="2800" b="1" i="0">
                <a:solidFill>
                  <a:srgbClr val="FFFFFF"/>
                </a:solidFill>
                <a:latin typeface="Calibri"/>
              </a:rPr>
              <a:t>227  </a:t>
            </a:r>
            <a:r>
              <a:rPr sz="1500" b="0" i="0">
                <a:solidFill>
                  <a:srgbClr val="FFFFFF"/>
                </a:solidFill>
                <a:latin typeface="Calibri"/>
              </a:rPr>
              <a:t>IRO identifiés</a:t>
            </a:r>
          </a:p>
        </p:txBody>
      </p:sp>
      <p:sp>
        <p:nvSpPr>
          <p:cNvPr id="7" name="Rounded Rectangle 6"/>
          <p:cNvSpPr/>
          <p:nvPr/>
        </p:nvSpPr>
        <p:spPr>
          <a:xfrm>
            <a:off x="960120" y="2807208"/>
            <a:ext cx="4114800" cy="86868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807208"/>
            <a:ext cx="4114800" cy="868680"/>
          </a:xfrm>
          <a:prstGeom prst="rect">
            <a:avLst/>
          </a:prstGeom>
          <a:noFill/>
        </p:spPr>
        <p:txBody>
          <a:bodyPr wrap="square" lIns="45720" rIns="45720" tIns="27432" bIns="27432" anchor="ctr">
            <a:spAutoFit/>
          </a:bodyPr>
          <a:lstStyle/>
          <a:p>
            <a:pPr algn="ctr"/>
            <a:r>
              <a:rPr sz="2800" b="1" i="0">
                <a:solidFill>
                  <a:srgbClr val="FFFFFF"/>
                </a:solidFill>
                <a:latin typeface="Calibri"/>
              </a:rPr>
              <a:t>39  </a:t>
            </a:r>
            <a:r>
              <a:rPr sz="1500" b="0" i="0">
                <a:solidFill>
                  <a:srgbClr val="FFFFFF"/>
                </a:solidFill>
                <a:latin typeface="Calibri"/>
              </a:rPr>
              <a:t>IRO matériels</a:t>
            </a:r>
          </a:p>
        </p:txBody>
      </p:sp>
      <p:sp>
        <p:nvSpPr>
          <p:cNvPr id="9" name="Rounded Rectangle 8"/>
          <p:cNvSpPr/>
          <p:nvPr/>
        </p:nvSpPr>
        <p:spPr>
          <a:xfrm>
            <a:off x="1371600" y="3831336"/>
            <a:ext cx="3291840" cy="86868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831336"/>
            <a:ext cx="3291840" cy="868680"/>
          </a:xfrm>
          <a:prstGeom prst="rect">
            <a:avLst/>
          </a:prstGeom>
          <a:noFill/>
        </p:spPr>
        <p:txBody>
          <a:bodyPr wrap="square" lIns="45720" rIns="45720" tIns="27432" bIns="27432" anchor="ctr">
            <a:spAutoFit/>
          </a:bodyPr>
          <a:lstStyle/>
          <a:p>
            <a:pPr algn="ctr"/>
            <a:r>
              <a:rPr sz="2800" b="1" i="0">
                <a:solidFill>
                  <a:srgbClr val="FFFFFF"/>
                </a:solidFill>
                <a:latin typeface="Calibri"/>
              </a:rPr>
              <a:t>20  </a:t>
            </a:r>
            <a:r>
              <a:rPr sz="1500" b="0" i="0">
                <a:solidFill>
                  <a:srgbClr val="FFFFFF"/>
                </a:solidFill>
                <a:latin typeface="Calibri"/>
              </a:rPr>
              <a:t>enjeux</a:t>
            </a:r>
          </a:p>
        </p:txBody>
      </p:sp>
      <p:sp>
        <p:nvSpPr>
          <p:cNvPr id="11" name="Rounded Rectangle 10"/>
          <p:cNvSpPr/>
          <p:nvPr/>
        </p:nvSpPr>
        <p:spPr>
          <a:xfrm>
            <a:off x="1783080" y="4855464"/>
            <a:ext cx="2468880" cy="868680"/>
          </a:xfrm>
          <a:prstGeom prst="roundRect">
            <a:avLst>
              <a:gd name="adj" fmla="val 15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4855464"/>
            <a:ext cx="2468880" cy="868680"/>
          </a:xfrm>
          <a:prstGeom prst="rect">
            <a:avLst/>
          </a:prstGeom>
          <a:noFill/>
        </p:spPr>
        <p:txBody>
          <a:bodyPr wrap="square" lIns="45720" rIns="45720" tIns="27432" bIns="27432" anchor="ctr">
            <a:spAutoFit/>
          </a:bodyPr>
          <a:lstStyle/>
          <a:p>
            <a:pPr algn="ctr"/>
            <a:r>
              <a:rPr sz="2800" b="1" i="0">
                <a:solidFill>
                  <a:srgbClr val="111111"/>
                </a:solidFill>
                <a:latin typeface="Calibri"/>
              </a:rPr>
              <a:t>7  </a:t>
            </a:r>
            <a:r>
              <a:rPr sz="1500" b="0" i="0">
                <a:solidFill>
                  <a:srgbClr val="111111"/>
                </a:solidFill>
                <a:latin typeface="Calibri"/>
              </a:rPr>
              <a:t>doublement matériels</a:t>
            </a:r>
          </a:p>
        </p:txBody>
      </p:sp>
      <p:sp>
        <p:nvSpPr>
          <p:cNvPr id="13" name="TextBox 12"/>
          <p:cNvSpPr txBox="1"/>
          <p:nvPr/>
        </p:nvSpPr>
        <p:spPr>
          <a:xfrm>
            <a:off x="6035040" y="1783080"/>
            <a:ext cx="5577840" cy="365760"/>
          </a:xfrm>
          <a:prstGeom prst="rect">
            <a:avLst/>
          </a:prstGeom>
          <a:noFill/>
        </p:spPr>
        <p:txBody>
          <a:bodyPr wrap="square" lIns="45720" rIns="45720" tIns="27432" bIns="27432" anchor="t">
            <a:spAutoFit/>
          </a:bodyPr>
          <a:lstStyle/>
          <a:p>
            <a:pPr algn="l"/>
            <a:r>
              <a:rPr sz="1600" b="1" i="0">
                <a:solidFill>
                  <a:srgbClr val="B0852F"/>
                </a:solidFill>
                <a:latin typeface="Calibri"/>
              </a:rPr>
              <a:t>Les 7 enjeux doublement matériels</a:t>
            </a:r>
          </a:p>
        </p:txBody>
      </p:sp>
      <p:sp>
        <p:nvSpPr>
          <p:cNvPr id="14" name="Rounded Rectangle 13"/>
          <p:cNvSpPr/>
          <p:nvPr/>
        </p:nvSpPr>
        <p:spPr>
          <a:xfrm>
            <a:off x="6035040" y="2286000"/>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2286000"/>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Mobilité bas carbone</a:t>
            </a:r>
          </a:p>
        </p:txBody>
      </p:sp>
      <p:sp>
        <p:nvSpPr>
          <p:cNvPr id="16" name="Rounded Rectangle 15"/>
          <p:cNvSpPr/>
          <p:nvPr/>
        </p:nvSpPr>
        <p:spPr>
          <a:xfrm>
            <a:off x="8869680" y="2286000"/>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2286000"/>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Ressources, réemploi, recyclage</a:t>
            </a:r>
          </a:p>
        </p:txBody>
      </p:sp>
      <p:sp>
        <p:nvSpPr>
          <p:cNvPr id="18" name="Rounded Rectangle 17"/>
          <p:cNvSpPr/>
          <p:nvPr/>
        </p:nvSpPr>
        <p:spPr>
          <a:xfrm>
            <a:off x="6035040" y="2944368"/>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2944368"/>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Déchets et fin de vie</a:t>
            </a:r>
          </a:p>
        </p:txBody>
      </p:sp>
      <p:sp>
        <p:nvSpPr>
          <p:cNvPr id="20" name="Rounded Rectangle 19"/>
          <p:cNvSpPr/>
          <p:nvPr/>
        </p:nvSpPr>
        <p:spPr>
          <a:xfrm>
            <a:off x="8869680" y="2944368"/>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2944368"/>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Pollution</a:t>
            </a:r>
          </a:p>
        </p:txBody>
      </p:sp>
      <p:sp>
        <p:nvSpPr>
          <p:cNvPr id="22" name="Rounded Rectangle 21"/>
          <p:cNvSpPr/>
          <p:nvPr/>
        </p:nvSpPr>
        <p:spPr>
          <a:xfrm>
            <a:off x="6035040" y="3602736"/>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0" y="3602736"/>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Conformité des produits</a:t>
            </a:r>
          </a:p>
        </p:txBody>
      </p:sp>
      <p:sp>
        <p:nvSpPr>
          <p:cNvPr id="24" name="Rounded Rectangle 23"/>
          <p:cNvSpPr/>
          <p:nvPr/>
        </p:nvSpPr>
        <p:spPr>
          <a:xfrm>
            <a:off x="8869680" y="3602736"/>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0" y="3602736"/>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Chaînes de valeur responsables</a:t>
            </a:r>
          </a:p>
        </p:txBody>
      </p:sp>
      <p:sp>
        <p:nvSpPr>
          <p:cNvPr id="26" name="Rounded Rectangle 25"/>
          <p:cNvSpPr/>
          <p:nvPr/>
        </p:nvSpPr>
        <p:spPr>
          <a:xfrm>
            <a:off x="6035040" y="4261104"/>
            <a:ext cx="2697480" cy="530352"/>
          </a:xfrm>
          <a:prstGeom prst="roundRect">
            <a:avLst>
              <a:gd name="adj" fmla="val 2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4261104"/>
            <a:ext cx="2697480" cy="530352"/>
          </a:xfrm>
          <a:prstGeom prst="rect">
            <a:avLst/>
          </a:prstGeom>
          <a:noFill/>
        </p:spPr>
        <p:txBody>
          <a:bodyPr wrap="square" lIns="45720" rIns="45720" tIns="27432" bIns="27432" anchor="ctr">
            <a:spAutoFit/>
          </a:bodyPr>
          <a:lstStyle/>
          <a:p>
            <a:pPr algn="ctr"/>
            <a:r>
              <a:rPr sz="1300" b="1" i="0">
                <a:solidFill>
                  <a:srgbClr val="1A1A1A"/>
                </a:solidFill>
                <a:latin typeface="Calibri"/>
              </a:rPr>
              <a:t>Engagement des employés</a:t>
            </a:r>
          </a:p>
        </p:txBody>
      </p:sp>
      <p:sp>
        <p:nvSpPr>
          <p:cNvPr id="28" name="TextBox 27"/>
          <p:cNvSpPr txBox="1"/>
          <p:nvPr/>
        </p:nvSpPr>
        <p:spPr>
          <a:xfrm>
            <a:off x="6035040" y="5074920"/>
            <a:ext cx="5577840" cy="914400"/>
          </a:xfrm>
          <a:prstGeom prst="rect">
            <a:avLst/>
          </a:prstGeom>
          <a:noFill/>
        </p:spPr>
        <p:txBody>
          <a:bodyPr wrap="square" lIns="45720" rIns="45720" tIns="27432" bIns="27432" anchor="t">
            <a:spAutoFit/>
          </a:bodyPr>
          <a:lstStyle/>
          <a:p>
            <a:pPr algn="l"/>
            <a:r>
              <a:rPr sz="1500" b="1" i="0">
                <a:solidFill>
                  <a:srgbClr val="1A1A1A"/>
                </a:solidFill>
                <a:latin typeface="Calibri"/>
              </a:rPr>
              <a:t>628 pages · assurance limitée · </a:t>
            </a:r>
            <a:r>
              <a:rPr sz="1500" b="0" i="1">
                <a:solidFill>
                  <a:srgbClr val="1A1A1A"/>
                </a:solidFill>
                <a:latin typeface="Calibri"/>
              </a:rPr>
              <a:t>« l'efficacité des politiques n'est pas toujours mesurée »</a:t>
            </a:r>
          </a:p>
        </p:txBody>
      </p:sp>
      <p:sp>
        <p:nvSpPr>
          <p:cNvPr id="29" name="TextBox 28"/>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 : Renault Group, DEU 2025, p. 85, 103-104, 116-120.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715768"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I.1 – ÉTUDE DU RAPPORT RSE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6</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Une gouvernance RSE à tous les étages</a:t>
            </a:r>
          </a:p>
        </p:txBody>
      </p:sp>
      <p:sp>
        <p:nvSpPr>
          <p:cNvPr id="5" name="Rounded Rectangle 4"/>
          <p:cNvSpPr/>
          <p:nvPr/>
        </p:nvSpPr>
        <p:spPr>
          <a:xfrm>
            <a:off x="2926080" y="1737360"/>
            <a:ext cx="3840480" cy="86868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0" y="1792224"/>
            <a:ext cx="3840480" cy="411480"/>
          </a:xfrm>
          <a:prstGeom prst="rect">
            <a:avLst/>
          </a:prstGeom>
          <a:noFill/>
        </p:spPr>
        <p:txBody>
          <a:bodyPr wrap="square" lIns="45720" rIns="45720" tIns="27432" bIns="27432" anchor="t">
            <a:spAutoFit/>
          </a:bodyPr>
          <a:lstStyle/>
          <a:p>
            <a:pPr algn="ctr"/>
            <a:r>
              <a:rPr sz="1500" b="1" i="0">
                <a:solidFill>
                  <a:srgbClr val="FFFFFF"/>
                </a:solidFill>
                <a:latin typeface="Calibri"/>
              </a:rPr>
              <a:t>Conseil d'administration</a:t>
            </a:r>
          </a:p>
        </p:txBody>
      </p:sp>
      <p:sp>
        <p:nvSpPr>
          <p:cNvPr id="7" name="TextBox 6"/>
          <p:cNvSpPr txBox="1"/>
          <p:nvPr/>
        </p:nvSpPr>
        <p:spPr>
          <a:xfrm>
            <a:off x="2926080" y="2176272"/>
            <a:ext cx="3840480" cy="365760"/>
          </a:xfrm>
          <a:prstGeom prst="rect">
            <a:avLst/>
          </a:prstGeom>
          <a:noFill/>
        </p:spPr>
        <p:txBody>
          <a:bodyPr wrap="square" lIns="45720" rIns="45720" tIns="27432" bIns="27432" anchor="t">
            <a:spAutoFit/>
          </a:bodyPr>
          <a:lstStyle/>
          <a:p>
            <a:pPr algn="ctr"/>
            <a:r>
              <a:rPr sz="1200" b="0" i="0">
                <a:solidFill>
                  <a:srgbClr val="D6C4A0"/>
                </a:solidFill>
                <a:latin typeface="Calibri"/>
              </a:rPr>
              <a:t>16 membres · 37,5 % de femmes</a:t>
            </a:r>
          </a:p>
        </p:txBody>
      </p:sp>
      <p:sp>
        <p:nvSpPr>
          <p:cNvPr id="8" name="Rounded Rectangle 7"/>
          <p:cNvSpPr/>
          <p:nvPr/>
        </p:nvSpPr>
        <p:spPr>
          <a:xfrm>
            <a:off x="548640" y="2971800"/>
            <a:ext cx="3657600" cy="868680"/>
          </a:xfrm>
          <a:prstGeom prst="roundRect">
            <a:avLst>
              <a:gd name="adj" fmla="val 12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26664"/>
            <a:ext cx="3657600" cy="411480"/>
          </a:xfrm>
          <a:prstGeom prst="rect">
            <a:avLst/>
          </a:prstGeom>
          <a:noFill/>
        </p:spPr>
        <p:txBody>
          <a:bodyPr wrap="square" lIns="45720" rIns="45720" tIns="27432" bIns="27432" anchor="t">
            <a:spAutoFit/>
          </a:bodyPr>
          <a:lstStyle/>
          <a:p>
            <a:pPr algn="ctr"/>
            <a:r>
              <a:rPr sz="1500" b="1" i="0">
                <a:solidFill>
                  <a:srgbClr val="1A1A1A"/>
                </a:solidFill>
                <a:latin typeface="Calibri"/>
              </a:rPr>
              <a:t>Comité Stratégie &amp; DD</a:t>
            </a:r>
          </a:p>
        </p:txBody>
      </p:sp>
      <p:sp>
        <p:nvSpPr>
          <p:cNvPr id="10" name="TextBox 9"/>
          <p:cNvSpPr txBox="1"/>
          <p:nvPr/>
        </p:nvSpPr>
        <p:spPr>
          <a:xfrm>
            <a:off x="548640" y="3410712"/>
            <a:ext cx="3657600" cy="365760"/>
          </a:xfrm>
          <a:prstGeom prst="rect">
            <a:avLst/>
          </a:prstGeom>
          <a:noFill/>
        </p:spPr>
        <p:txBody>
          <a:bodyPr wrap="square" lIns="45720" rIns="45720" tIns="27432" bIns="27432" anchor="t">
            <a:spAutoFit/>
          </a:bodyPr>
          <a:lstStyle/>
          <a:p>
            <a:pPr algn="ctr"/>
            <a:r>
              <a:rPr sz="1200" b="0" i="0">
                <a:solidFill>
                  <a:srgbClr val="5E5E5E"/>
                </a:solidFill>
                <a:latin typeface="Calibri"/>
              </a:rPr>
              <a:t>trimestriel · valide les cibles</a:t>
            </a:r>
          </a:p>
        </p:txBody>
      </p:sp>
      <p:sp>
        <p:nvSpPr>
          <p:cNvPr id="11" name="Rounded Rectangle 10"/>
          <p:cNvSpPr/>
          <p:nvPr/>
        </p:nvSpPr>
        <p:spPr>
          <a:xfrm>
            <a:off x="5486400" y="2971800"/>
            <a:ext cx="3657600" cy="868680"/>
          </a:xfrm>
          <a:prstGeom prst="roundRect">
            <a:avLst>
              <a:gd name="adj" fmla="val 12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3026664"/>
            <a:ext cx="3657600" cy="411480"/>
          </a:xfrm>
          <a:prstGeom prst="rect">
            <a:avLst/>
          </a:prstGeom>
          <a:noFill/>
        </p:spPr>
        <p:txBody>
          <a:bodyPr wrap="square" lIns="45720" rIns="45720" tIns="27432" bIns="27432" anchor="t">
            <a:spAutoFit/>
          </a:bodyPr>
          <a:lstStyle/>
          <a:p>
            <a:pPr algn="ctr"/>
            <a:r>
              <a:rPr sz="1500" b="1" i="0">
                <a:solidFill>
                  <a:srgbClr val="1A1A1A"/>
                </a:solidFill>
                <a:latin typeface="Calibri"/>
              </a:rPr>
              <a:t>Comité Audit &amp; Risques</a:t>
            </a:r>
          </a:p>
        </p:txBody>
      </p:sp>
      <p:sp>
        <p:nvSpPr>
          <p:cNvPr id="13" name="TextBox 12"/>
          <p:cNvSpPr txBox="1"/>
          <p:nvPr/>
        </p:nvSpPr>
        <p:spPr>
          <a:xfrm>
            <a:off x="5486400" y="3410712"/>
            <a:ext cx="3657600" cy="365760"/>
          </a:xfrm>
          <a:prstGeom prst="rect">
            <a:avLst/>
          </a:prstGeom>
          <a:noFill/>
        </p:spPr>
        <p:txBody>
          <a:bodyPr wrap="square" lIns="45720" rIns="45720" tIns="27432" bIns="27432" anchor="t">
            <a:spAutoFit/>
          </a:bodyPr>
          <a:lstStyle/>
          <a:p>
            <a:pPr algn="ctr"/>
            <a:r>
              <a:rPr sz="1200" b="0" i="0">
                <a:solidFill>
                  <a:srgbClr val="5E5E5E"/>
                </a:solidFill>
                <a:latin typeface="Calibri"/>
              </a:rPr>
              <a:t>fiabilité de l'information</a:t>
            </a:r>
          </a:p>
        </p:txBody>
      </p:sp>
      <p:sp>
        <p:nvSpPr>
          <p:cNvPr id="14" name="Rounded Rectangle 13"/>
          <p:cNvSpPr/>
          <p:nvPr/>
        </p:nvSpPr>
        <p:spPr>
          <a:xfrm>
            <a:off x="2926080" y="4206240"/>
            <a:ext cx="3840480" cy="86868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261103"/>
            <a:ext cx="3840480" cy="411480"/>
          </a:xfrm>
          <a:prstGeom prst="rect">
            <a:avLst/>
          </a:prstGeom>
          <a:noFill/>
        </p:spPr>
        <p:txBody>
          <a:bodyPr wrap="square" lIns="45720" rIns="45720" tIns="27432" bIns="27432" anchor="t">
            <a:spAutoFit/>
          </a:bodyPr>
          <a:lstStyle/>
          <a:p>
            <a:pPr algn="ctr"/>
            <a:r>
              <a:rPr sz="1500" b="1" i="0">
                <a:solidFill>
                  <a:srgbClr val="FFFFFF"/>
                </a:solidFill>
                <a:latin typeface="Calibri"/>
              </a:rPr>
              <a:t>Leadership Team + Direction DD</a:t>
            </a:r>
          </a:p>
        </p:txBody>
      </p:sp>
      <p:sp>
        <p:nvSpPr>
          <p:cNvPr id="16" name="TextBox 15"/>
          <p:cNvSpPr txBox="1"/>
          <p:nvPr/>
        </p:nvSpPr>
        <p:spPr>
          <a:xfrm>
            <a:off x="2926080" y="4645152"/>
            <a:ext cx="3840480" cy="365760"/>
          </a:xfrm>
          <a:prstGeom prst="rect">
            <a:avLst/>
          </a:prstGeom>
          <a:noFill/>
        </p:spPr>
        <p:txBody>
          <a:bodyPr wrap="square" lIns="45720" rIns="45720" tIns="27432" bIns="27432" anchor="t">
            <a:spAutoFit/>
          </a:bodyPr>
          <a:lstStyle/>
          <a:p>
            <a:pPr algn="ctr"/>
            <a:r>
              <a:rPr sz="1200" b="0" i="0">
                <a:solidFill>
                  <a:srgbClr val="D6C4A0"/>
                </a:solidFill>
                <a:latin typeface="Calibri"/>
              </a:rPr>
              <a:t>tableau de bord ESG mensuel</a:t>
            </a:r>
          </a:p>
        </p:txBody>
      </p:sp>
      <p:sp>
        <p:nvSpPr>
          <p:cNvPr id="17" name="Rounded Rectangle 16"/>
          <p:cNvSpPr/>
          <p:nvPr/>
        </p:nvSpPr>
        <p:spPr>
          <a:xfrm>
            <a:off x="2926080" y="5440680"/>
            <a:ext cx="3840480" cy="868680"/>
          </a:xfrm>
          <a:prstGeom prst="roundRect">
            <a:avLst>
              <a:gd name="adj" fmla="val 12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0" y="5495544"/>
            <a:ext cx="3840480" cy="411480"/>
          </a:xfrm>
          <a:prstGeom prst="rect">
            <a:avLst/>
          </a:prstGeom>
          <a:noFill/>
        </p:spPr>
        <p:txBody>
          <a:bodyPr wrap="square" lIns="45720" rIns="45720" tIns="27432" bIns="27432" anchor="t">
            <a:spAutoFit/>
          </a:bodyPr>
          <a:lstStyle/>
          <a:p>
            <a:pPr algn="ctr"/>
            <a:r>
              <a:rPr sz="1500" b="1" i="0">
                <a:solidFill>
                  <a:srgbClr val="1A1A1A"/>
                </a:solidFill>
                <a:latin typeface="Calibri"/>
              </a:rPr>
              <a:t>Métiers · pays · filiales</a:t>
            </a:r>
          </a:p>
        </p:txBody>
      </p:sp>
      <p:sp>
        <p:nvSpPr>
          <p:cNvPr id="19" name="TextBox 18"/>
          <p:cNvSpPr txBox="1"/>
          <p:nvPr/>
        </p:nvSpPr>
        <p:spPr>
          <a:xfrm>
            <a:off x="2926080" y="5879592"/>
            <a:ext cx="3840480" cy="365760"/>
          </a:xfrm>
          <a:prstGeom prst="rect">
            <a:avLst/>
          </a:prstGeom>
          <a:noFill/>
        </p:spPr>
        <p:txBody>
          <a:bodyPr wrap="square" lIns="45720" rIns="45720" tIns="27432" bIns="27432" anchor="t">
            <a:spAutoFit/>
          </a:bodyPr>
          <a:lstStyle/>
          <a:p>
            <a:pPr algn="ctr"/>
            <a:r>
              <a:rPr sz="1200" b="0" i="0">
                <a:solidFill>
                  <a:srgbClr val="5E5E5E"/>
                </a:solidFill>
                <a:latin typeface="Calibri"/>
              </a:rPr>
              <a:t>plans d'action, indicateurs</a:t>
            </a:r>
          </a:p>
        </p:txBody>
      </p:sp>
      <p:cxnSp>
        <p:nvCxnSpPr>
          <p:cNvPr id="20" name="Connector 19"/>
          <p:cNvCxnSpPr/>
          <p:nvPr/>
        </p:nvCxnSpPr>
        <p:spPr>
          <a:xfrm flipH="1">
            <a:off x="2377440" y="2606040"/>
            <a:ext cx="2468880" cy="365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846320" y="2606040"/>
            <a:ext cx="2468880" cy="365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77440" y="3840480"/>
            <a:ext cx="2468880" cy="365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846320" y="3840480"/>
            <a:ext cx="2468880" cy="365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46320" y="5074920"/>
            <a:ext cx="0" cy="365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09760" y="1737360"/>
            <a:ext cx="2148840" cy="4526280"/>
          </a:xfrm>
          <a:prstGeom prst="roundRect">
            <a:avLst>
              <a:gd name="adj" fmla="val 6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874519"/>
            <a:ext cx="1920240" cy="365760"/>
          </a:xfrm>
          <a:prstGeom prst="rect">
            <a:avLst/>
          </a:prstGeom>
          <a:noFill/>
        </p:spPr>
        <p:txBody>
          <a:bodyPr wrap="square" lIns="45720" rIns="45720" tIns="27432" bIns="27432" anchor="t">
            <a:spAutoFit/>
          </a:bodyPr>
          <a:lstStyle/>
          <a:p>
            <a:pPr algn="l"/>
            <a:r>
              <a:rPr sz="1400" b="1" i="0">
                <a:solidFill>
                  <a:srgbClr val="111111"/>
                </a:solidFill>
                <a:latin typeface="Calibri"/>
              </a:rPr>
              <a:t>Rémunération du DG</a:t>
            </a:r>
          </a:p>
        </p:txBody>
      </p:sp>
      <p:sp>
        <p:nvSpPr>
          <p:cNvPr id="27" name="TextBox 26"/>
          <p:cNvSpPr txBox="1"/>
          <p:nvPr/>
        </p:nvSpPr>
        <p:spPr>
          <a:xfrm>
            <a:off x="9646920" y="2331720"/>
            <a:ext cx="1920240" cy="731520"/>
          </a:xfrm>
          <a:prstGeom prst="rect">
            <a:avLst/>
          </a:prstGeom>
          <a:noFill/>
        </p:spPr>
        <p:txBody>
          <a:bodyPr wrap="square" lIns="45720" rIns="45720" tIns="27432" bIns="27432" anchor="t">
            <a:spAutoFit/>
          </a:bodyPr>
          <a:lstStyle/>
          <a:p>
            <a:pPr algn="l"/>
            <a:r>
              <a:rPr sz="3600" b="1" i="0">
                <a:solidFill>
                  <a:srgbClr val="111111"/>
                </a:solidFill>
                <a:latin typeface="Calibri"/>
              </a:rPr>
              <a:t>57,5 %</a:t>
            </a:r>
          </a:p>
        </p:txBody>
      </p:sp>
      <p:sp>
        <p:nvSpPr>
          <p:cNvPr id="28" name="TextBox 27"/>
          <p:cNvSpPr txBox="1"/>
          <p:nvPr/>
        </p:nvSpPr>
        <p:spPr>
          <a:xfrm>
            <a:off x="9646920" y="3044952"/>
            <a:ext cx="1920240" cy="548640"/>
          </a:xfrm>
          <a:prstGeom prst="rect">
            <a:avLst/>
          </a:prstGeom>
          <a:noFill/>
        </p:spPr>
        <p:txBody>
          <a:bodyPr wrap="square" lIns="45720" rIns="45720" tIns="27432" bIns="27432" anchor="t">
            <a:spAutoFit/>
          </a:bodyPr>
          <a:lstStyle/>
          <a:p>
            <a:pPr algn="l"/>
            <a:r>
              <a:rPr sz="1400" b="0" i="0">
                <a:solidFill>
                  <a:srgbClr val="5E5E5E"/>
                </a:solidFill>
                <a:latin typeface="Calibri"/>
              </a:rPr>
              <a:t>du fixe lié à des critères de durabilité</a:t>
            </a:r>
          </a:p>
        </p:txBody>
      </p:sp>
      <p:sp>
        <p:nvSpPr>
          <p:cNvPr id="29" name="TextBox 28"/>
          <p:cNvSpPr txBox="1"/>
          <p:nvPr/>
        </p:nvSpPr>
        <p:spPr>
          <a:xfrm>
            <a:off x="9646920" y="3977639"/>
            <a:ext cx="1920240" cy="731520"/>
          </a:xfrm>
          <a:prstGeom prst="rect">
            <a:avLst/>
          </a:prstGeom>
          <a:noFill/>
        </p:spPr>
        <p:txBody>
          <a:bodyPr wrap="square" lIns="45720" rIns="45720" tIns="27432" bIns="27432" anchor="t">
            <a:spAutoFit/>
          </a:bodyPr>
          <a:lstStyle/>
          <a:p>
            <a:pPr algn="l"/>
            <a:r>
              <a:rPr sz="3600" b="1" i="0">
                <a:solidFill>
                  <a:srgbClr val="111111"/>
                </a:solidFill>
                <a:latin typeface="Calibri"/>
              </a:rPr>
              <a:t>25 %</a:t>
            </a:r>
          </a:p>
        </p:txBody>
      </p:sp>
      <p:sp>
        <p:nvSpPr>
          <p:cNvPr id="30" name="TextBox 29"/>
          <p:cNvSpPr txBox="1"/>
          <p:nvPr/>
        </p:nvSpPr>
        <p:spPr>
          <a:xfrm>
            <a:off x="9646920" y="4690872"/>
            <a:ext cx="1920240" cy="548640"/>
          </a:xfrm>
          <a:prstGeom prst="rect">
            <a:avLst/>
          </a:prstGeom>
          <a:noFill/>
        </p:spPr>
        <p:txBody>
          <a:bodyPr wrap="square" lIns="45720" rIns="45720" tIns="27432" bIns="27432" anchor="t">
            <a:spAutoFit/>
          </a:bodyPr>
          <a:lstStyle/>
          <a:p>
            <a:pPr algn="l"/>
            <a:r>
              <a:rPr sz="1400" b="0" i="0">
                <a:solidFill>
                  <a:srgbClr val="5E5E5E"/>
                </a:solidFill>
                <a:latin typeface="Calibri"/>
              </a:rPr>
              <a:t>des actions de performance liées au climat</a:t>
            </a:r>
          </a:p>
        </p:txBody>
      </p:sp>
      <p:sp>
        <p:nvSpPr>
          <p:cNvPr id="31" name="TextBox 30"/>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 : Renault Group, DEU 2025, p. 8, 107-111 ; Charte éthique 2026, p.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715768"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I.1 – ÉTUDE DU RAPPORT RSE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7</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Des objectifs chiffrés… déjà dépassés ?</a:t>
            </a:r>
          </a:p>
        </p:txBody>
      </p:sp>
      <p:graphicFrame>
        <p:nvGraphicFramePr>
          <p:cNvPr id="5" name="Chart 4"/>
          <p:cNvGraphicFramePr>
            <a:graphicFrameLocks noGrp="1"/>
          </p:cNvGraphicFramePr>
          <p:nvPr/>
        </p:nvGraphicFramePr>
        <p:xfrm>
          <a:off x="548640" y="1645920"/>
          <a:ext cx="6949440" cy="4572000"/>
        </p:xfrm>
        <a:graphic>
          <a:graphicData uri="http://schemas.openxmlformats.org/drawingml/2006/chart">
            <c:chart xmlns:c="http://schemas.openxmlformats.org/drawingml/2006/chart" r:id="rId3"/>
          </a:graphicData>
        </a:graphic>
      </p:graphicFrame>
      <p:sp>
        <p:nvSpPr>
          <p:cNvPr id="6" name="TextBox 5"/>
          <p:cNvSpPr txBox="1"/>
          <p:nvPr/>
        </p:nvSpPr>
        <p:spPr>
          <a:xfrm>
            <a:off x="7955279" y="1737360"/>
            <a:ext cx="3749039" cy="731520"/>
          </a:xfrm>
          <a:prstGeom prst="rect">
            <a:avLst/>
          </a:prstGeom>
          <a:noFill/>
        </p:spPr>
        <p:txBody>
          <a:bodyPr wrap="square" lIns="45720" rIns="45720" tIns="27432" bIns="27432" anchor="t">
            <a:spAutoFit/>
          </a:bodyPr>
          <a:lstStyle/>
          <a:p>
            <a:pPr algn="l"/>
            <a:r>
              <a:rPr sz="4400" b="1" i="0">
                <a:solidFill>
                  <a:srgbClr val="1A1A1A"/>
                </a:solidFill>
                <a:latin typeface="Calibri"/>
              </a:rPr>
              <a:t>−38 %</a:t>
            </a:r>
          </a:p>
        </p:txBody>
      </p:sp>
      <p:sp>
        <p:nvSpPr>
          <p:cNvPr id="7" name="TextBox 6"/>
          <p:cNvSpPr txBox="1"/>
          <p:nvPr/>
        </p:nvSpPr>
        <p:spPr>
          <a:xfrm>
            <a:off x="7955279" y="2450591"/>
            <a:ext cx="3749039" cy="548640"/>
          </a:xfrm>
          <a:prstGeom prst="rect">
            <a:avLst/>
          </a:prstGeom>
          <a:noFill/>
        </p:spPr>
        <p:txBody>
          <a:bodyPr wrap="square" lIns="45720" rIns="45720" tIns="27432" bIns="27432" anchor="t">
            <a:spAutoFit/>
          </a:bodyPr>
          <a:lstStyle/>
          <a:p>
            <a:pPr algn="l"/>
            <a:r>
              <a:rPr sz="1400" b="0" i="0">
                <a:solidFill>
                  <a:srgbClr val="5E5E5E"/>
                </a:solidFill>
                <a:latin typeface="Calibri"/>
              </a:rPr>
              <a:t>d'émissions totales depuis 2019 (107 Mt CO2e)</a:t>
            </a:r>
          </a:p>
        </p:txBody>
      </p:sp>
      <p:sp>
        <p:nvSpPr>
          <p:cNvPr id="8" name="Rounded Rectangle 7"/>
          <p:cNvSpPr/>
          <p:nvPr/>
        </p:nvSpPr>
        <p:spPr>
          <a:xfrm>
            <a:off x="7955279" y="3246120"/>
            <a:ext cx="3703320" cy="1325880"/>
          </a:xfrm>
          <a:prstGeom prst="roundRect">
            <a:avLst>
              <a:gd name="adj" fmla="val 10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3291840"/>
            <a:ext cx="3383280" cy="1234440"/>
          </a:xfrm>
          <a:prstGeom prst="rect">
            <a:avLst/>
          </a:prstGeom>
          <a:noFill/>
        </p:spPr>
        <p:txBody>
          <a:bodyPr wrap="square" lIns="45720" rIns="45720" tIns="27432" bIns="27432" anchor="ctr">
            <a:spAutoFit/>
          </a:bodyPr>
          <a:lstStyle/>
          <a:p>
            <a:pPr algn="l"/>
            <a:r>
              <a:rPr sz="1800" b="1" i="0">
                <a:solidFill>
                  <a:srgbClr val="111111"/>
                </a:solidFill>
                <a:latin typeface="Calibri"/>
              </a:rPr>
              <a:t>Cibles 2030 atteintes en 2025</a:t>
            </a:r>
          </a:p>
          <a:p>
            <a:pPr algn="l"/>
            <a:r>
              <a:rPr sz="1400" b="0" i="0">
                <a:solidFill>
                  <a:srgbClr val="111111"/>
                </a:solidFill>
                <a:latin typeface="Calibri"/>
              </a:rPr>
              <a:t>Scope 3 : « bien en deçà de 2 °C », pas 1,5 °C</a:t>
            </a:r>
          </a:p>
        </p:txBody>
      </p:sp>
      <p:sp>
        <p:nvSpPr>
          <p:cNvPr id="10" name="TextBox 9"/>
          <p:cNvSpPr txBox="1"/>
          <p:nvPr/>
        </p:nvSpPr>
        <p:spPr>
          <a:xfrm>
            <a:off x="7955279" y="4800600"/>
            <a:ext cx="3749039" cy="1097280"/>
          </a:xfrm>
          <a:prstGeom prst="rect">
            <a:avLst/>
          </a:prstGeom>
          <a:noFill/>
        </p:spPr>
        <p:txBody>
          <a:bodyPr wrap="square" lIns="45720" rIns="45720" tIns="27432" bIns="27432" anchor="t">
            <a:spAutoFit/>
          </a:bodyPr>
          <a:lstStyle/>
          <a:p>
            <a:pPr algn="l">
              <a:spcAft>
                <a:spcPts val="600"/>
              </a:spcAft>
            </a:pPr>
            <a:r>
              <a:rPr sz="1500" b="1" i="0">
                <a:solidFill>
                  <a:srgbClr val="1A1A1A"/>
                </a:solidFill>
                <a:latin typeface="Calibri"/>
              </a:rPr>
              <a:t>Net Zero : </a:t>
            </a:r>
            <a:r>
              <a:rPr sz="1500" b="0" i="0">
                <a:solidFill>
                  <a:srgbClr val="1A1A1A"/>
                </a:solidFill>
                <a:latin typeface="Calibri"/>
              </a:rPr>
              <a:t>Europe 2040 · monde 2050</a:t>
            </a:r>
          </a:p>
          <a:p>
            <a:pPr algn="l">
              <a:spcAft>
                <a:spcPts val="600"/>
              </a:spcAft>
            </a:pPr>
            <a:r>
              <a:rPr sz="1500" b="1" i="0">
                <a:solidFill>
                  <a:srgbClr val="1A1A1A"/>
                </a:solidFill>
                <a:latin typeface="Calibri"/>
              </a:rPr>
              <a:t>Énergie des usines : </a:t>
            </a:r>
            <a:r>
              <a:rPr sz="1500" b="0" i="0">
                <a:solidFill>
                  <a:srgbClr val="A32D2D"/>
                </a:solidFill>
                <a:latin typeface="Calibri"/>
              </a:rPr>
              <a:t>−28 % pour −30 % visé en 2025</a:t>
            </a:r>
          </a:p>
        </p:txBody>
      </p:sp>
      <p:sp>
        <p:nvSpPr>
          <p:cNvPr id="11" name="TextBox 10"/>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 : Renault Group, DEU 2025, p. 88, 135-137 (market-based, base 2019).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I.2 – ACTIONS CONCRÈTES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8</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L'électrification : réelle en Europe, minoritaire dans le monde</a:t>
            </a:r>
          </a:p>
        </p:txBody>
      </p:sp>
      <p:sp>
        <p:nvSpPr>
          <p:cNvPr id="5" name="TextBox 4"/>
          <p:cNvSpPr txBox="1"/>
          <p:nvPr/>
        </p:nvSpPr>
        <p:spPr>
          <a:xfrm>
            <a:off x="548640" y="1737360"/>
            <a:ext cx="3657600" cy="731520"/>
          </a:xfrm>
          <a:prstGeom prst="rect">
            <a:avLst/>
          </a:prstGeom>
          <a:noFill/>
        </p:spPr>
        <p:txBody>
          <a:bodyPr wrap="square" lIns="45720" rIns="45720" tIns="27432" bIns="27432" anchor="t">
            <a:spAutoFit/>
          </a:bodyPr>
          <a:lstStyle/>
          <a:p>
            <a:pPr algn="l"/>
            <a:r>
              <a:rPr sz="4400" b="1" i="0">
                <a:solidFill>
                  <a:srgbClr val="1A1A1A"/>
                </a:solidFill>
                <a:latin typeface="Calibri"/>
              </a:rPr>
              <a:t>44,9 %</a:t>
            </a:r>
          </a:p>
        </p:txBody>
      </p:sp>
      <p:sp>
        <p:nvSpPr>
          <p:cNvPr id="6" name="TextBox 5"/>
          <p:cNvSpPr txBox="1"/>
          <p:nvPr/>
        </p:nvSpPr>
        <p:spPr>
          <a:xfrm>
            <a:off x="548640" y="2450591"/>
            <a:ext cx="3657600" cy="548640"/>
          </a:xfrm>
          <a:prstGeom prst="rect">
            <a:avLst/>
          </a:prstGeom>
          <a:noFill/>
        </p:spPr>
        <p:txBody>
          <a:bodyPr wrap="square" lIns="45720" rIns="45720" tIns="27432" bIns="27432" anchor="t">
            <a:spAutoFit/>
          </a:bodyPr>
          <a:lstStyle/>
          <a:p>
            <a:pPr algn="l"/>
            <a:r>
              <a:rPr sz="1400" b="0" i="0">
                <a:solidFill>
                  <a:srgbClr val="5E5E5E"/>
                </a:solidFill>
                <a:latin typeface="Calibri"/>
              </a:rPr>
              <a:t>des ventes électrifiées en Europe</a:t>
            </a:r>
          </a:p>
        </p:txBody>
      </p:sp>
      <p:sp>
        <p:nvSpPr>
          <p:cNvPr id="7" name="TextBox 6"/>
          <p:cNvSpPr txBox="1"/>
          <p:nvPr/>
        </p:nvSpPr>
        <p:spPr>
          <a:xfrm>
            <a:off x="548640" y="3154680"/>
            <a:ext cx="3657600" cy="731520"/>
          </a:xfrm>
          <a:prstGeom prst="rect">
            <a:avLst/>
          </a:prstGeom>
          <a:noFill/>
        </p:spPr>
        <p:txBody>
          <a:bodyPr wrap="square" lIns="45720" rIns="45720" tIns="27432" bIns="27432" anchor="t">
            <a:spAutoFit/>
          </a:bodyPr>
          <a:lstStyle/>
          <a:p>
            <a:pPr algn="l"/>
            <a:r>
              <a:rPr sz="4400" b="1" i="0">
                <a:solidFill>
                  <a:srgbClr val="1A1A1A"/>
                </a:solidFill>
                <a:latin typeface="Calibri"/>
              </a:rPr>
              <a:t>99,8 g</a:t>
            </a:r>
          </a:p>
        </p:txBody>
      </p:sp>
      <p:sp>
        <p:nvSpPr>
          <p:cNvPr id="8" name="TextBox 7"/>
          <p:cNvSpPr txBox="1"/>
          <p:nvPr/>
        </p:nvSpPr>
        <p:spPr>
          <a:xfrm>
            <a:off x="548640" y="3867912"/>
            <a:ext cx="3657600" cy="548640"/>
          </a:xfrm>
          <a:prstGeom prst="rect">
            <a:avLst/>
          </a:prstGeom>
          <a:noFill/>
        </p:spPr>
        <p:txBody>
          <a:bodyPr wrap="square" lIns="45720" rIns="45720" tIns="27432" bIns="27432" anchor="t">
            <a:spAutoFit/>
          </a:bodyPr>
          <a:lstStyle/>
          <a:p>
            <a:pPr algn="l"/>
            <a:r>
              <a:rPr sz="1400" b="0" i="0">
                <a:solidFill>
                  <a:srgbClr val="5E5E5E"/>
                </a:solidFill>
                <a:latin typeface="Calibri"/>
              </a:rPr>
              <a:t>CO2/km, voitures neuves UE (2025)</a:t>
            </a:r>
          </a:p>
        </p:txBody>
      </p:sp>
      <p:sp>
        <p:nvSpPr>
          <p:cNvPr id="9" name="TextBox 8"/>
          <p:cNvSpPr txBox="1"/>
          <p:nvPr/>
        </p:nvSpPr>
        <p:spPr>
          <a:xfrm>
            <a:off x="548640" y="4572000"/>
            <a:ext cx="3657600" cy="731520"/>
          </a:xfrm>
          <a:prstGeom prst="rect">
            <a:avLst/>
          </a:prstGeom>
          <a:noFill/>
        </p:spPr>
        <p:txBody>
          <a:bodyPr wrap="square" lIns="45720" rIns="45720" tIns="27432" bIns="27432" anchor="t">
            <a:spAutoFit/>
          </a:bodyPr>
          <a:lstStyle/>
          <a:p>
            <a:pPr algn="l"/>
            <a:r>
              <a:rPr sz="4400" b="1" i="0">
                <a:solidFill>
                  <a:srgbClr val="1A1A1A"/>
                </a:solidFill>
                <a:latin typeface="Calibri"/>
              </a:rPr>
              <a:t>1,5 Md€</a:t>
            </a:r>
          </a:p>
        </p:txBody>
      </p:sp>
      <p:sp>
        <p:nvSpPr>
          <p:cNvPr id="10" name="TextBox 9"/>
          <p:cNvSpPr txBox="1"/>
          <p:nvPr/>
        </p:nvSpPr>
        <p:spPr>
          <a:xfrm>
            <a:off x="548640" y="5285232"/>
            <a:ext cx="3657600" cy="548640"/>
          </a:xfrm>
          <a:prstGeom prst="rect">
            <a:avLst/>
          </a:prstGeom>
          <a:noFill/>
        </p:spPr>
        <p:txBody>
          <a:bodyPr wrap="square" lIns="45720" rIns="45720" tIns="27432" bIns="27432" anchor="t">
            <a:spAutoFit/>
          </a:bodyPr>
          <a:lstStyle/>
          <a:p>
            <a:pPr algn="l"/>
            <a:r>
              <a:rPr sz="1400" b="0" i="0">
                <a:solidFill>
                  <a:srgbClr val="5E5E5E"/>
                </a:solidFill>
                <a:latin typeface="Calibri"/>
              </a:rPr>
              <a:t>par an investis dans le VE (2026-28)</a:t>
            </a:r>
          </a:p>
        </p:txBody>
      </p:sp>
      <p:graphicFrame>
        <p:nvGraphicFramePr>
          <p:cNvPr id="11" name="Chart 10"/>
          <p:cNvGraphicFramePr>
            <a:graphicFrameLocks noGrp="1"/>
          </p:cNvGraphicFramePr>
          <p:nvPr/>
        </p:nvGraphicFramePr>
        <p:xfrm>
          <a:off x="4389120" y="1645920"/>
          <a:ext cx="7315200" cy="4023360"/>
        </p:xfrm>
        <a:graphic>
          <a:graphicData uri="http://schemas.openxmlformats.org/drawingml/2006/chart">
            <c:chart xmlns:c="http://schemas.openxmlformats.org/drawingml/2006/chart" r:id="rId3"/>
          </a:graphicData>
        </a:graphic>
      </p:graphicFrame>
      <p:sp>
        <p:nvSpPr>
          <p:cNvPr id="12" name="Rounded Rectangle 11"/>
          <p:cNvSpPr/>
          <p:nvPr/>
        </p:nvSpPr>
        <p:spPr>
          <a:xfrm>
            <a:off x="4480560" y="5715000"/>
            <a:ext cx="7132320" cy="548640"/>
          </a:xfrm>
          <a:prstGeom prst="roundRect">
            <a:avLst>
              <a:gd name="adj" fmla="val 30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5715000"/>
            <a:ext cx="7132320" cy="548640"/>
          </a:xfrm>
          <a:prstGeom prst="rect">
            <a:avLst/>
          </a:prstGeom>
          <a:noFill/>
        </p:spPr>
        <p:txBody>
          <a:bodyPr wrap="square" lIns="45720" rIns="45720" tIns="27432" bIns="27432" anchor="ctr">
            <a:spAutoFit/>
          </a:bodyPr>
          <a:lstStyle/>
          <a:p>
            <a:pPr algn="ctr"/>
            <a:r>
              <a:rPr sz="1600" b="1" i="0">
                <a:solidFill>
                  <a:srgbClr val="1A1A1A"/>
                </a:solidFill>
                <a:latin typeface="Calibri"/>
              </a:rPr>
              <a:t>69 % thermique sans électrification</a:t>
            </a:r>
            <a:r>
              <a:rPr sz="1600" b="0" i="0">
                <a:solidFill>
                  <a:srgbClr val="1A1A1A"/>
                </a:solidFill>
                <a:latin typeface="Calibri"/>
              </a:rPr>
              <a:t>   ·   </a:t>
            </a:r>
            <a:r>
              <a:rPr sz="1600" b="1" i="0">
                <a:solidFill>
                  <a:srgbClr val="B0852F"/>
                </a:solidFill>
                <a:latin typeface="Calibri"/>
              </a:rPr>
              <a:t>31 % électrifié</a:t>
            </a:r>
          </a:p>
        </p:txBody>
      </p:sp>
      <p:sp>
        <p:nvSpPr>
          <p:cNvPr id="14" name="TextBox 13"/>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 : Renault Group, DEU 2025, p. 15, 94, 125, 135.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I.2 – ACTIONS CONCRÈTES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9</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Économie circulaire et achats responsables</a:t>
            </a:r>
          </a:p>
        </p:txBody>
      </p:sp>
      <p:sp>
        <p:nvSpPr>
          <p:cNvPr id="5" name="Rounded Rectangle 4"/>
          <p:cNvSpPr/>
          <p:nvPr/>
        </p:nvSpPr>
        <p:spPr>
          <a:xfrm>
            <a:off x="548640" y="1737360"/>
            <a:ext cx="5394960" cy="4434840"/>
          </a:xfrm>
          <a:prstGeom prst="roundRect">
            <a:avLst>
              <a:gd name="adj" fmla="val 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74519"/>
            <a:ext cx="4846320" cy="457200"/>
          </a:xfrm>
          <a:prstGeom prst="rect">
            <a:avLst/>
          </a:prstGeom>
          <a:noFill/>
        </p:spPr>
        <p:txBody>
          <a:bodyPr wrap="square" lIns="45720" rIns="45720" tIns="27432" bIns="27432" anchor="t">
            <a:spAutoFit/>
          </a:bodyPr>
          <a:lstStyle/>
          <a:p>
            <a:pPr algn="l"/>
            <a:r>
              <a:rPr sz="2200" b="1" i="0">
                <a:solidFill>
                  <a:srgbClr val="1A1A1A"/>
                </a:solidFill>
                <a:latin typeface="Calibri"/>
              </a:rPr>
              <a:t>Refactory de Flins</a:t>
            </a:r>
          </a:p>
        </p:txBody>
      </p:sp>
      <p:sp>
        <p:nvSpPr>
          <p:cNvPr id="7" name="TextBox 6"/>
          <p:cNvSpPr txBox="1"/>
          <p:nvPr/>
        </p:nvSpPr>
        <p:spPr>
          <a:xfrm>
            <a:off x="822959" y="2514600"/>
            <a:ext cx="4846320" cy="731520"/>
          </a:xfrm>
          <a:prstGeom prst="rect">
            <a:avLst/>
          </a:prstGeom>
          <a:noFill/>
        </p:spPr>
        <p:txBody>
          <a:bodyPr wrap="square" lIns="45720" rIns="45720" tIns="27432" bIns="27432" anchor="t">
            <a:spAutoFit/>
          </a:bodyPr>
          <a:lstStyle/>
          <a:p>
            <a:pPr algn="l"/>
            <a:r>
              <a:rPr sz="4000" b="1" i="0">
                <a:solidFill>
                  <a:srgbClr val="1A1A1A"/>
                </a:solidFill>
                <a:latin typeface="Calibri"/>
              </a:rPr>
              <a:t>17-20 %</a:t>
            </a:r>
          </a:p>
        </p:txBody>
      </p:sp>
      <p:sp>
        <p:nvSpPr>
          <p:cNvPr id="8" name="TextBox 7"/>
          <p:cNvSpPr txBox="1"/>
          <p:nvPr/>
        </p:nvSpPr>
        <p:spPr>
          <a:xfrm>
            <a:off x="822959" y="3227832"/>
            <a:ext cx="4846320" cy="548640"/>
          </a:xfrm>
          <a:prstGeom prst="rect">
            <a:avLst/>
          </a:prstGeom>
          <a:noFill/>
        </p:spPr>
        <p:txBody>
          <a:bodyPr wrap="square" lIns="45720" rIns="45720" tIns="27432" bIns="27432" anchor="t">
            <a:spAutoFit/>
          </a:bodyPr>
          <a:lstStyle/>
          <a:p>
            <a:pPr algn="l"/>
            <a:r>
              <a:rPr sz="1400" b="0" i="0">
                <a:solidFill>
                  <a:srgbClr val="5E5E5E"/>
                </a:solidFill>
                <a:latin typeface="Calibri"/>
              </a:rPr>
              <a:t>de plastique recyclé (×2 vs Europe)</a:t>
            </a:r>
          </a:p>
        </p:txBody>
      </p:sp>
      <p:sp>
        <p:nvSpPr>
          <p:cNvPr id="9" name="TextBox 8"/>
          <p:cNvSpPr txBox="1"/>
          <p:nvPr/>
        </p:nvSpPr>
        <p:spPr>
          <a:xfrm>
            <a:off x="822959" y="3840480"/>
            <a:ext cx="4846320" cy="731520"/>
          </a:xfrm>
          <a:prstGeom prst="rect">
            <a:avLst/>
          </a:prstGeom>
          <a:noFill/>
        </p:spPr>
        <p:txBody>
          <a:bodyPr wrap="square" lIns="45720" rIns="45720" tIns="27432" bIns="27432" anchor="t">
            <a:spAutoFit/>
          </a:bodyPr>
          <a:lstStyle/>
          <a:p>
            <a:pPr algn="l"/>
            <a:r>
              <a:rPr sz="4000" b="1" i="0">
                <a:solidFill>
                  <a:srgbClr val="1A1A1A"/>
                </a:solidFill>
                <a:latin typeface="Calibri"/>
              </a:rPr>
              <a:t>29,9 %</a:t>
            </a:r>
          </a:p>
        </p:txBody>
      </p:sp>
      <p:sp>
        <p:nvSpPr>
          <p:cNvPr id="10" name="TextBox 9"/>
          <p:cNvSpPr txBox="1"/>
          <p:nvPr/>
        </p:nvSpPr>
        <p:spPr>
          <a:xfrm>
            <a:off x="822959" y="4553712"/>
            <a:ext cx="4846320" cy="548640"/>
          </a:xfrm>
          <a:prstGeom prst="rect">
            <a:avLst/>
          </a:prstGeom>
          <a:noFill/>
        </p:spPr>
        <p:txBody>
          <a:bodyPr wrap="square" lIns="45720" rIns="45720" tIns="27432" bIns="27432" anchor="t">
            <a:spAutoFit/>
          </a:bodyPr>
          <a:lstStyle/>
          <a:p>
            <a:pPr algn="l"/>
            <a:r>
              <a:rPr sz="1400" b="0" i="0">
                <a:solidFill>
                  <a:srgbClr val="5E5E5E"/>
                </a:solidFill>
                <a:latin typeface="Calibri"/>
              </a:rPr>
              <a:t>de matières circulaires (cible &gt; 30 %)</a:t>
            </a:r>
          </a:p>
        </p:txBody>
      </p:sp>
      <p:sp>
        <p:nvSpPr>
          <p:cNvPr id="11" name="Rounded Rectangle 10"/>
          <p:cNvSpPr/>
          <p:nvPr/>
        </p:nvSpPr>
        <p:spPr>
          <a:xfrm>
            <a:off x="822959" y="5257800"/>
            <a:ext cx="484632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5257800"/>
            <a:ext cx="4846320" cy="685800"/>
          </a:xfrm>
          <a:prstGeom prst="rect">
            <a:avLst/>
          </a:prstGeom>
          <a:noFill/>
        </p:spPr>
        <p:txBody>
          <a:bodyPr wrap="square" lIns="45720" rIns="45720" tIns="27432" bIns="27432" anchor="ctr">
            <a:spAutoFit/>
          </a:bodyPr>
          <a:lstStyle/>
          <a:p>
            <a:pPr algn="ctr"/>
            <a:r>
              <a:rPr sz="1400" b="1" i="0">
                <a:solidFill>
                  <a:srgbClr val="EFDF00"/>
                </a:solidFill>
                <a:latin typeface="Calibri"/>
              </a:rPr>
              <a:t>⚠ Fin de l'assemblage à Flins (2024) · reconversion contestée</a:t>
            </a:r>
          </a:p>
        </p:txBody>
      </p:sp>
      <p:sp>
        <p:nvSpPr>
          <p:cNvPr id="13" name="Rounded Rectangle 12"/>
          <p:cNvSpPr/>
          <p:nvPr/>
        </p:nvSpPr>
        <p:spPr>
          <a:xfrm>
            <a:off x="6217920" y="1737360"/>
            <a:ext cx="5394960" cy="4434840"/>
          </a:xfrm>
          <a:prstGeom prst="roundRect">
            <a:avLst>
              <a:gd name="adj" fmla="val 5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874519"/>
            <a:ext cx="4846320" cy="457200"/>
          </a:xfrm>
          <a:prstGeom prst="rect">
            <a:avLst/>
          </a:prstGeom>
          <a:noFill/>
        </p:spPr>
        <p:txBody>
          <a:bodyPr wrap="square" lIns="45720" rIns="45720" tIns="27432" bIns="27432" anchor="t">
            <a:spAutoFit/>
          </a:bodyPr>
          <a:lstStyle/>
          <a:p>
            <a:pPr algn="l"/>
            <a:r>
              <a:rPr sz="2200" b="1" i="0">
                <a:solidFill>
                  <a:srgbClr val="1A1A1A"/>
                </a:solidFill>
                <a:latin typeface="Calibri"/>
              </a:rPr>
              <a:t>Achats responsables</a:t>
            </a:r>
          </a:p>
        </p:txBody>
      </p:sp>
      <p:sp>
        <p:nvSpPr>
          <p:cNvPr id="15" name="TextBox 14"/>
          <p:cNvSpPr txBox="1"/>
          <p:nvPr/>
        </p:nvSpPr>
        <p:spPr>
          <a:xfrm>
            <a:off x="6492240" y="2514600"/>
            <a:ext cx="4846320" cy="731520"/>
          </a:xfrm>
          <a:prstGeom prst="rect">
            <a:avLst/>
          </a:prstGeom>
          <a:noFill/>
        </p:spPr>
        <p:txBody>
          <a:bodyPr wrap="square" lIns="45720" rIns="45720" tIns="27432" bIns="27432" anchor="t">
            <a:spAutoFit/>
          </a:bodyPr>
          <a:lstStyle/>
          <a:p>
            <a:pPr algn="l"/>
            <a:r>
              <a:rPr sz="4000" b="1" i="0">
                <a:solidFill>
                  <a:srgbClr val="1A1A1A"/>
                </a:solidFill>
                <a:latin typeface="Calibri"/>
              </a:rPr>
              <a:t>107</a:t>
            </a:r>
          </a:p>
        </p:txBody>
      </p:sp>
      <p:sp>
        <p:nvSpPr>
          <p:cNvPr id="16" name="TextBox 15"/>
          <p:cNvSpPr txBox="1"/>
          <p:nvPr/>
        </p:nvSpPr>
        <p:spPr>
          <a:xfrm>
            <a:off x="6492240" y="3227832"/>
            <a:ext cx="4846320" cy="548640"/>
          </a:xfrm>
          <a:prstGeom prst="rect">
            <a:avLst/>
          </a:prstGeom>
          <a:noFill/>
        </p:spPr>
        <p:txBody>
          <a:bodyPr wrap="square" lIns="45720" rIns="45720" tIns="27432" bIns="27432" anchor="t">
            <a:spAutoFit/>
          </a:bodyPr>
          <a:lstStyle/>
          <a:p>
            <a:pPr algn="l"/>
            <a:r>
              <a:rPr sz="1400" b="0" i="0">
                <a:solidFill>
                  <a:srgbClr val="5E5E5E"/>
                </a:solidFill>
                <a:latin typeface="Calibri"/>
              </a:rPr>
              <a:t>audits RSE fournisseurs en 2025</a:t>
            </a:r>
          </a:p>
        </p:txBody>
      </p:sp>
      <p:sp>
        <p:nvSpPr>
          <p:cNvPr id="17" name="TextBox 16"/>
          <p:cNvSpPr txBox="1"/>
          <p:nvPr/>
        </p:nvSpPr>
        <p:spPr>
          <a:xfrm>
            <a:off x="6492240" y="3840480"/>
            <a:ext cx="4846320" cy="731520"/>
          </a:xfrm>
          <a:prstGeom prst="rect">
            <a:avLst/>
          </a:prstGeom>
          <a:noFill/>
        </p:spPr>
        <p:txBody>
          <a:bodyPr wrap="square" lIns="45720" rIns="45720" tIns="27432" bIns="27432" anchor="t">
            <a:spAutoFit/>
          </a:bodyPr>
          <a:lstStyle/>
          <a:p>
            <a:pPr algn="l"/>
            <a:r>
              <a:rPr sz="4000" b="1" i="0">
                <a:solidFill>
                  <a:srgbClr val="1A1A1A"/>
                </a:solidFill>
                <a:latin typeface="Calibri"/>
              </a:rPr>
              <a:t>≥ 45/100</a:t>
            </a:r>
          </a:p>
        </p:txBody>
      </p:sp>
      <p:sp>
        <p:nvSpPr>
          <p:cNvPr id="18" name="TextBox 17"/>
          <p:cNvSpPr txBox="1"/>
          <p:nvPr/>
        </p:nvSpPr>
        <p:spPr>
          <a:xfrm>
            <a:off x="6492240" y="4553712"/>
            <a:ext cx="4846320" cy="548640"/>
          </a:xfrm>
          <a:prstGeom prst="rect">
            <a:avLst/>
          </a:prstGeom>
          <a:noFill/>
        </p:spPr>
        <p:txBody>
          <a:bodyPr wrap="square" lIns="45720" rIns="45720" tIns="27432" bIns="27432" anchor="t">
            <a:spAutoFit/>
          </a:bodyPr>
          <a:lstStyle/>
          <a:p>
            <a:pPr algn="l"/>
            <a:r>
              <a:rPr sz="1400" b="0" i="0">
                <a:solidFill>
                  <a:srgbClr val="5E5E5E"/>
                </a:solidFill>
                <a:latin typeface="Calibri"/>
              </a:rPr>
              <a:t>note EcoVadis exigée</a:t>
            </a:r>
          </a:p>
        </p:txBody>
      </p:sp>
      <p:sp>
        <p:nvSpPr>
          <p:cNvPr id="19" name="Rounded Rectangle 18"/>
          <p:cNvSpPr/>
          <p:nvPr/>
        </p:nvSpPr>
        <p:spPr>
          <a:xfrm>
            <a:off x="6492240" y="5257800"/>
            <a:ext cx="484632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5257800"/>
            <a:ext cx="4846320" cy="685800"/>
          </a:xfrm>
          <a:prstGeom prst="rect">
            <a:avLst/>
          </a:prstGeom>
          <a:noFill/>
        </p:spPr>
        <p:txBody>
          <a:bodyPr wrap="square" lIns="45720" rIns="45720" tIns="27432" bIns="27432" anchor="ctr">
            <a:spAutoFit/>
          </a:bodyPr>
          <a:lstStyle/>
          <a:p>
            <a:pPr algn="ctr"/>
            <a:r>
              <a:rPr sz="1400" b="1" i="0">
                <a:solidFill>
                  <a:srgbClr val="EFDF00"/>
                </a:solidFill>
                <a:latin typeface="Calibri"/>
              </a:rPr>
              <a:t>⚠ Rang N (mines) délégué au rang 1</a:t>
            </a:r>
          </a:p>
        </p:txBody>
      </p:sp>
      <p:sp>
        <p:nvSpPr>
          <p:cNvPr id="21" name="TextBox 20"/>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DEU 2025, p. 98, 172-174, 211-214 ; Politique d'Achats 2024, p. 7 ; L'argus, L'Usine Nouvelle.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I.2 – ACTIONS CONCRÈTES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10</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Diversité, éthique : quatre chartes analysées</a:t>
            </a:r>
          </a:p>
        </p:txBody>
      </p:sp>
      <p:sp>
        <p:nvSpPr>
          <p:cNvPr id="5" name="Rounded Rectangle 4"/>
          <p:cNvSpPr/>
          <p:nvPr/>
        </p:nvSpPr>
        <p:spPr>
          <a:xfrm>
            <a:off x="548640" y="1783080"/>
            <a:ext cx="2606040" cy="3840480"/>
          </a:xfrm>
          <a:prstGeom prst="roundRect">
            <a:avLst>
              <a:gd name="adj" fmla="val 6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240280" cy="457200"/>
          </a:xfrm>
          <a:prstGeom prst="rect">
            <a:avLst/>
          </a:prstGeom>
          <a:noFill/>
        </p:spPr>
        <p:txBody>
          <a:bodyPr wrap="square" lIns="45720" rIns="45720" tIns="27432" bIns="27432" anchor="t">
            <a:spAutoFit/>
          </a:bodyPr>
          <a:lstStyle/>
          <a:p>
            <a:pPr algn="l"/>
            <a:r>
              <a:rPr sz="3000" b="1" i="0">
                <a:solidFill>
                  <a:srgbClr val="EFDF00"/>
                </a:solidFill>
                <a:latin typeface="Calibri"/>
              </a:rPr>
              <a:t>2022</a:t>
            </a:r>
          </a:p>
        </p:txBody>
      </p:sp>
      <p:sp>
        <p:nvSpPr>
          <p:cNvPr id="7" name="TextBox 6"/>
          <p:cNvSpPr txBox="1"/>
          <p:nvPr/>
        </p:nvSpPr>
        <p:spPr>
          <a:xfrm>
            <a:off x="731520" y="2560320"/>
            <a:ext cx="2240280" cy="731520"/>
          </a:xfrm>
          <a:prstGeom prst="rect">
            <a:avLst/>
          </a:prstGeom>
          <a:noFill/>
        </p:spPr>
        <p:txBody>
          <a:bodyPr wrap="square" lIns="45720" rIns="45720" tIns="27432" bIns="27432" anchor="t">
            <a:spAutoFit/>
          </a:bodyPr>
          <a:lstStyle/>
          <a:p>
            <a:pPr algn="l"/>
            <a:r>
              <a:rPr sz="1900" b="1" i="0">
                <a:solidFill>
                  <a:srgbClr val="FFFFFF"/>
                </a:solidFill>
                <a:latin typeface="Calibri"/>
              </a:rPr>
              <a:t>Charte D&amp;I</a:t>
            </a:r>
          </a:p>
        </p:txBody>
      </p:sp>
      <p:sp>
        <p:nvSpPr>
          <p:cNvPr id="8" name="TextBox 7"/>
          <p:cNvSpPr txBox="1"/>
          <p:nvPr/>
        </p:nvSpPr>
        <p:spPr>
          <a:xfrm>
            <a:off x="731520" y="3383280"/>
            <a:ext cx="2240280" cy="1097280"/>
          </a:xfrm>
          <a:prstGeom prst="rect">
            <a:avLst/>
          </a:prstGeom>
          <a:noFill/>
        </p:spPr>
        <p:txBody>
          <a:bodyPr wrap="square" lIns="45720" rIns="45720" tIns="27432" bIns="27432" anchor="t">
            <a:spAutoFit/>
          </a:bodyPr>
          <a:lstStyle/>
          <a:p>
            <a:pPr algn="l"/>
            <a:r>
              <a:rPr sz="1500" b="0" i="0">
                <a:solidFill>
                  <a:srgbClr val="FFFFFF"/>
                </a:solidFill>
                <a:latin typeface="Calibri"/>
              </a:rPr>
              <a:t>Écart salarial F/H supprimé d'ici 2025</a:t>
            </a:r>
          </a:p>
        </p:txBody>
      </p:sp>
      <p:sp>
        <p:nvSpPr>
          <p:cNvPr id="9" name="TextBox 8"/>
          <p:cNvSpPr txBox="1"/>
          <p:nvPr/>
        </p:nvSpPr>
        <p:spPr>
          <a:xfrm>
            <a:off x="731520" y="4572000"/>
            <a:ext cx="2240280" cy="822960"/>
          </a:xfrm>
          <a:prstGeom prst="rect">
            <a:avLst/>
          </a:prstGeom>
          <a:noFill/>
        </p:spPr>
        <p:txBody>
          <a:bodyPr wrap="square" lIns="45720" rIns="45720" tIns="27432" bIns="27432" anchor="t">
            <a:spAutoFit/>
          </a:bodyPr>
          <a:lstStyle/>
          <a:p>
            <a:pPr algn="l"/>
            <a:r>
              <a:rPr sz="1400" b="1" i="0">
                <a:solidFill>
                  <a:srgbClr val="D6C4A0"/>
                </a:solidFill>
                <a:latin typeface="Calibri"/>
              </a:rPr>
              <a:t>27,4 % de femmes managers</a:t>
            </a:r>
          </a:p>
        </p:txBody>
      </p:sp>
      <p:sp>
        <p:nvSpPr>
          <p:cNvPr id="10" name="Rounded Rectangle 9"/>
          <p:cNvSpPr/>
          <p:nvPr/>
        </p:nvSpPr>
        <p:spPr>
          <a:xfrm>
            <a:off x="3383280" y="1783080"/>
            <a:ext cx="2606040" cy="3840480"/>
          </a:xfrm>
          <a:prstGeom prst="roundRect">
            <a:avLst>
              <a:gd name="adj" fmla="val 6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920240"/>
            <a:ext cx="2240280" cy="457200"/>
          </a:xfrm>
          <a:prstGeom prst="rect">
            <a:avLst/>
          </a:prstGeom>
          <a:noFill/>
        </p:spPr>
        <p:txBody>
          <a:bodyPr wrap="square" lIns="45720" rIns="45720" tIns="27432" bIns="27432" anchor="t">
            <a:spAutoFit/>
          </a:bodyPr>
          <a:lstStyle/>
          <a:p>
            <a:pPr algn="l"/>
            <a:r>
              <a:rPr sz="3000" b="1" i="0">
                <a:solidFill>
                  <a:srgbClr val="B0852F"/>
                </a:solidFill>
                <a:latin typeface="Calibri"/>
              </a:rPr>
              <a:t>2024</a:t>
            </a:r>
          </a:p>
        </p:txBody>
      </p:sp>
      <p:sp>
        <p:nvSpPr>
          <p:cNvPr id="12" name="TextBox 11"/>
          <p:cNvSpPr txBox="1"/>
          <p:nvPr/>
        </p:nvSpPr>
        <p:spPr>
          <a:xfrm>
            <a:off x="3566160" y="2560320"/>
            <a:ext cx="2240280" cy="731520"/>
          </a:xfrm>
          <a:prstGeom prst="rect">
            <a:avLst/>
          </a:prstGeom>
          <a:noFill/>
        </p:spPr>
        <p:txBody>
          <a:bodyPr wrap="square" lIns="45720" rIns="45720" tIns="27432" bIns="27432" anchor="t">
            <a:spAutoFit/>
          </a:bodyPr>
          <a:lstStyle/>
          <a:p>
            <a:pPr algn="l"/>
            <a:r>
              <a:rPr sz="1900" b="1" i="0">
                <a:solidFill>
                  <a:srgbClr val="1A1A1A"/>
                </a:solidFill>
                <a:latin typeface="Calibri"/>
              </a:rPr>
              <a:t>Politique d'Achats</a:t>
            </a:r>
          </a:p>
        </p:txBody>
      </p:sp>
      <p:sp>
        <p:nvSpPr>
          <p:cNvPr id="13" name="TextBox 12"/>
          <p:cNvSpPr txBox="1"/>
          <p:nvPr/>
        </p:nvSpPr>
        <p:spPr>
          <a:xfrm>
            <a:off x="3566160" y="3383280"/>
            <a:ext cx="2240280" cy="1097280"/>
          </a:xfrm>
          <a:prstGeom prst="rect">
            <a:avLst/>
          </a:prstGeom>
          <a:noFill/>
        </p:spPr>
        <p:txBody>
          <a:bodyPr wrap="square" lIns="45720" rIns="45720" tIns="27432" bIns="27432" anchor="t">
            <a:spAutoFit/>
          </a:bodyPr>
          <a:lstStyle/>
          <a:p>
            <a:pPr algn="l"/>
            <a:r>
              <a:rPr sz="1500" b="0" i="0">
                <a:solidFill>
                  <a:srgbClr val="1A1A1A"/>
                </a:solidFill>
                <a:latin typeface="Calibri"/>
              </a:rPr>
              <a:t>Critères ESG et plan de vigilance exigé</a:t>
            </a:r>
          </a:p>
        </p:txBody>
      </p:sp>
      <p:sp>
        <p:nvSpPr>
          <p:cNvPr id="14" name="TextBox 13"/>
          <p:cNvSpPr txBox="1"/>
          <p:nvPr/>
        </p:nvSpPr>
        <p:spPr>
          <a:xfrm>
            <a:off x="3566160" y="4572000"/>
            <a:ext cx="2240280" cy="822960"/>
          </a:xfrm>
          <a:prstGeom prst="rect">
            <a:avLst/>
          </a:prstGeom>
          <a:noFill/>
        </p:spPr>
        <p:txBody>
          <a:bodyPr wrap="square" lIns="45720" rIns="45720" tIns="27432" bIns="27432" anchor="t">
            <a:spAutoFit/>
          </a:bodyPr>
          <a:lstStyle/>
          <a:p>
            <a:pPr algn="l"/>
            <a:r>
              <a:rPr sz="1400" b="1" i="0">
                <a:solidFill>
                  <a:srgbClr val="B0852F"/>
                </a:solidFill>
                <a:latin typeface="Calibri"/>
              </a:rPr>
              <a:t>Rang N non couvert</a:t>
            </a:r>
          </a:p>
        </p:txBody>
      </p:sp>
      <p:sp>
        <p:nvSpPr>
          <p:cNvPr id="15" name="Rounded Rectangle 14"/>
          <p:cNvSpPr/>
          <p:nvPr/>
        </p:nvSpPr>
        <p:spPr>
          <a:xfrm>
            <a:off x="6217920" y="1783080"/>
            <a:ext cx="2606040" cy="3840480"/>
          </a:xfrm>
          <a:prstGeom prst="roundRect">
            <a:avLst>
              <a:gd name="adj" fmla="val 6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20240"/>
            <a:ext cx="2240280" cy="457200"/>
          </a:xfrm>
          <a:prstGeom prst="rect">
            <a:avLst/>
          </a:prstGeom>
          <a:noFill/>
        </p:spPr>
        <p:txBody>
          <a:bodyPr wrap="square" lIns="45720" rIns="45720" tIns="27432" bIns="27432" anchor="t">
            <a:spAutoFit/>
          </a:bodyPr>
          <a:lstStyle/>
          <a:p>
            <a:pPr algn="l"/>
            <a:r>
              <a:rPr sz="3000" b="1" i="0">
                <a:solidFill>
                  <a:srgbClr val="EFDF00"/>
                </a:solidFill>
                <a:latin typeface="Calibri"/>
              </a:rPr>
              <a:t>2025</a:t>
            </a:r>
          </a:p>
        </p:txBody>
      </p:sp>
      <p:sp>
        <p:nvSpPr>
          <p:cNvPr id="17" name="TextBox 16"/>
          <p:cNvSpPr txBox="1"/>
          <p:nvPr/>
        </p:nvSpPr>
        <p:spPr>
          <a:xfrm>
            <a:off x="6400800" y="2560320"/>
            <a:ext cx="2240280" cy="731520"/>
          </a:xfrm>
          <a:prstGeom prst="rect">
            <a:avLst/>
          </a:prstGeom>
          <a:noFill/>
        </p:spPr>
        <p:txBody>
          <a:bodyPr wrap="square" lIns="45720" rIns="45720" tIns="27432" bIns="27432" anchor="t">
            <a:spAutoFit/>
          </a:bodyPr>
          <a:lstStyle/>
          <a:p>
            <a:pPr algn="l"/>
            <a:r>
              <a:rPr sz="1900" b="1" i="0">
                <a:solidFill>
                  <a:srgbClr val="FFFFFF"/>
                </a:solidFill>
                <a:latin typeface="Calibri"/>
              </a:rPr>
              <a:t>Code anticorruption</a:t>
            </a:r>
          </a:p>
        </p:txBody>
      </p:sp>
      <p:sp>
        <p:nvSpPr>
          <p:cNvPr id="18" name="TextBox 17"/>
          <p:cNvSpPr txBox="1"/>
          <p:nvPr/>
        </p:nvSpPr>
        <p:spPr>
          <a:xfrm>
            <a:off x="6400800" y="3383280"/>
            <a:ext cx="2240280" cy="1097280"/>
          </a:xfrm>
          <a:prstGeom prst="rect">
            <a:avLst/>
          </a:prstGeom>
          <a:noFill/>
        </p:spPr>
        <p:txBody>
          <a:bodyPr wrap="square" lIns="45720" rIns="45720" tIns="27432" bIns="27432" anchor="t">
            <a:spAutoFit/>
          </a:bodyPr>
          <a:lstStyle/>
          <a:p>
            <a:pPr algn="l"/>
            <a:r>
              <a:rPr sz="1500" b="0" i="0">
                <a:solidFill>
                  <a:srgbClr val="FFFFFF"/>
                </a:solidFill>
                <a:latin typeface="Calibri"/>
              </a:rPr>
              <a:t>Plafond cadeaux 60 € · ISO 37001</a:t>
            </a:r>
          </a:p>
        </p:txBody>
      </p:sp>
      <p:sp>
        <p:nvSpPr>
          <p:cNvPr id="19" name="TextBox 18"/>
          <p:cNvSpPr txBox="1"/>
          <p:nvPr/>
        </p:nvSpPr>
        <p:spPr>
          <a:xfrm>
            <a:off x="6400800" y="4572000"/>
            <a:ext cx="2240280" cy="822960"/>
          </a:xfrm>
          <a:prstGeom prst="rect">
            <a:avLst/>
          </a:prstGeom>
          <a:noFill/>
        </p:spPr>
        <p:txBody>
          <a:bodyPr wrap="square" lIns="45720" rIns="45720" tIns="27432" bIns="27432" anchor="t">
            <a:spAutoFit/>
          </a:bodyPr>
          <a:lstStyle/>
          <a:p>
            <a:pPr algn="l"/>
            <a:r>
              <a:rPr sz="1400" b="1" i="0">
                <a:solidFill>
                  <a:srgbClr val="D6C4A0"/>
                </a:solidFill>
                <a:latin typeface="Calibri"/>
              </a:rPr>
              <a:t>883 alertes en 2025</a:t>
            </a:r>
          </a:p>
        </p:txBody>
      </p:sp>
      <p:sp>
        <p:nvSpPr>
          <p:cNvPr id="20" name="Rounded Rectangle 19"/>
          <p:cNvSpPr/>
          <p:nvPr/>
        </p:nvSpPr>
        <p:spPr>
          <a:xfrm>
            <a:off x="9052560" y="1783080"/>
            <a:ext cx="2606040" cy="3840480"/>
          </a:xfrm>
          <a:prstGeom prst="roundRect">
            <a:avLst>
              <a:gd name="adj" fmla="val 6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920240"/>
            <a:ext cx="2240280" cy="457200"/>
          </a:xfrm>
          <a:prstGeom prst="rect">
            <a:avLst/>
          </a:prstGeom>
          <a:noFill/>
        </p:spPr>
        <p:txBody>
          <a:bodyPr wrap="square" lIns="45720" rIns="45720" tIns="27432" bIns="27432" anchor="t">
            <a:spAutoFit/>
          </a:bodyPr>
          <a:lstStyle/>
          <a:p>
            <a:pPr algn="l"/>
            <a:r>
              <a:rPr sz="3000" b="1" i="0">
                <a:solidFill>
                  <a:srgbClr val="B0852F"/>
                </a:solidFill>
                <a:latin typeface="Calibri"/>
              </a:rPr>
              <a:t>2026</a:t>
            </a:r>
          </a:p>
        </p:txBody>
      </p:sp>
      <p:sp>
        <p:nvSpPr>
          <p:cNvPr id="22" name="TextBox 21"/>
          <p:cNvSpPr txBox="1"/>
          <p:nvPr/>
        </p:nvSpPr>
        <p:spPr>
          <a:xfrm>
            <a:off x="9235440" y="2560320"/>
            <a:ext cx="2240280" cy="731520"/>
          </a:xfrm>
          <a:prstGeom prst="rect">
            <a:avLst/>
          </a:prstGeom>
          <a:noFill/>
        </p:spPr>
        <p:txBody>
          <a:bodyPr wrap="square" lIns="45720" rIns="45720" tIns="27432" bIns="27432" anchor="t">
            <a:spAutoFit/>
          </a:bodyPr>
          <a:lstStyle/>
          <a:p>
            <a:pPr algn="l"/>
            <a:r>
              <a:rPr sz="1900" b="1" i="0">
                <a:solidFill>
                  <a:srgbClr val="1A1A1A"/>
                </a:solidFill>
                <a:latin typeface="Calibri"/>
              </a:rPr>
              <a:t>Charte éthique</a:t>
            </a:r>
          </a:p>
        </p:txBody>
      </p:sp>
      <p:sp>
        <p:nvSpPr>
          <p:cNvPr id="23" name="TextBox 22"/>
          <p:cNvSpPr txBox="1"/>
          <p:nvPr/>
        </p:nvSpPr>
        <p:spPr>
          <a:xfrm>
            <a:off x="9235440" y="3383280"/>
            <a:ext cx="2240280" cy="1097280"/>
          </a:xfrm>
          <a:prstGeom prst="rect">
            <a:avLst/>
          </a:prstGeom>
          <a:noFill/>
        </p:spPr>
        <p:txBody>
          <a:bodyPr wrap="square" lIns="45720" rIns="45720" tIns="27432" bIns="27432" anchor="t">
            <a:spAutoFit/>
          </a:bodyPr>
          <a:lstStyle/>
          <a:p>
            <a:pPr algn="l"/>
            <a:r>
              <a:rPr sz="1500" b="0" i="0">
                <a:solidFill>
                  <a:srgbClr val="1A1A1A"/>
                </a:solidFill>
                <a:latin typeface="Calibri"/>
              </a:rPr>
              <a:t>Droits humains, alerte, sanctions</a:t>
            </a:r>
          </a:p>
        </p:txBody>
      </p:sp>
      <p:sp>
        <p:nvSpPr>
          <p:cNvPr id="24" name="TextBox 23"/>
          <p:cNvSpPr txBox="1"/>
          <p:nvPr/>
        </p:nvSpPr>
        <p:spPr>
          <a:xfrm>
            <a:off x="9235440" y="4572000"/>
            <a:ext cx="2240280" cy="822960"/>
          </a:xfrm>
          <a:prstGeom prst="rect">
            <a:avLst/>
          </a:prstGeom>
          <a:noFill/>
        </p:spPr>
        <p:txBody>
          <a:bodyPr wrap="square" lIns="45720" rIns="45720" tIns="27432" bIns="27432" anchor="t">
            <a:spAutoFit/>
          </a:bodyPr>
          <a:lstStyle/>
          <a:p>
            <a:pPr algn="l"/>
            <a:r>
              <a:rPr sz="1400" b="1" i="0">
                <a:solidFill>
                  <a:srgbClr val="B0852F"/>
                </a:solidFill>
                <a:latin typeface="Calibri"/>
              </a:rPr>
              <a:t>Surtout qualitative</a:t>
            </a:r>
          </a:p>
        </p:txBody>
      </p:sp>
      <p:sp>
        <p:nvSpPr>
          <p:cNvPr id="25" name="TextBox 24"/>
          <p:cNvSpPr txBox="1"/>
          <p:nvPr/>
        </p:nvSpPr>
        <p:spPr>
          <a:xfrm>
            <a:off x="548640" y="5806440"/>
            <a:ext cx="11064240" cy="457200"/>
          </a:xfrm>
          <a:prstGeom prst="rect">
            <a:avLst/>
          </a:prstGeom>
          <a:noFill/>
        </p:spPr>
        <p:txBody>
          <a:bodyPr wrap="square" lIns="45720" rIns="45720" tIns="27432" bIns="27432" anchor="t">
            <a:spAutoFit/>
          </a:bodyPr>
          <a:lstStyle/>
          <a:p>
            <a:pPr algn="l"/>
            <a:r>
              <a:rPr sz="1500" b="1" i="0">
                <a:solidFill>
                  <a:srgbClr val="1A1A1A"/>
                </a:solidFill>
                <a:latin typeface="Calibri"/>
              </a:rPr>
              <a:t>Plaintes discrimination / harcèlement : </a:t>
            </a:r>
            <a:r>
              <a:rPr sz="1500" b="0" i="0">
                <a:solidFill>
                  <a:srgbClr val="1A1A1A"/>
                </a:solidFill>
                <a:latin typeface="Calibri"/>
              </a:rPr>
              <a:t>287 en 2025 (230 en 2024)</a:t>
            </a:r>
          </a:p>
        </p:txBody>
      </p:sp>
      <p:sp>
        <p:nvSpPr>
          <p:cNvPr id="26" name="TextBox 25"/>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Charte D&amp;I 2022, p. 9 ; Politique d'Achats 2024 ; Code anticorruption 2025, p. 3 ; Charte éthique 2026 ; DEU 2025, p. 193, 200, 226.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I.2 – ACTIONS CONCRÈTES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11</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Labels, certifications et notations</a:t>
            </a:r>
          </a:p>
        </p:txBody>
      </p:sp>
      <p:graphicFrame>
        <p:nvGraphicFramePr>
          <p:cNvPr id="5" name="Table 4"/>
          <p:cNvGraphicFramePr>
            <a:graphicFrameLocks noGrp="1"/>
          </p:cNvGraphicFramePr>
          <p:nvPr/>
        </p:nvGraphicFramePr>
        <p:xfrm>
          <a:off x="548640" y="1737360"/>
          <a:ext cx="5577840" cy="3401568"/>
        </p:xfrm>
        <a:graphic>
          <a:graphicData uri="http://schemas.openxmlformats.org/drawingml/2006/table">
            <a:tbl>
              <a:tblPr firstRow="1" bandRow="1">
                <a:tableStyleId>{5C22544A-7EE6-4342-B048-85BDC9FD1C3A}</a:tableStyleId>
              </a:tblPr>
              <a:tblGrid>
                <a:gridCol w="1554480"/>
                <a:gridCol w="2286000"/>
                <a:gridCol w="1737360"/>
              </a:tblGrid>
              <a:tr h="566928">
                <a:tc>
                  <a:txBody>
                    <a:bodyPr wrap="square"/>
                    <a:lstStyle/>
                    <a:p>
                      <a:r>
                        <a:rPr sz="1400" b="1">
                          <a:solidFill>
                            <a:srgbClr val="EFDF00"/>
                          </a:solidFill>
                          <a:latin typeface="Calibri"/>
                        </a:rPr>
                        <a:t>Label</a:t>
                      </a:r>
                    </a:p>
                  </a:txBody>
                  <a:tcPr marL="73152" marR="73152" marT="27432" marB="27432" anchor="ctr">
                    <a:solidFill>
                      <a:srgbClr val="111111"/>
                    </a:solidFill>
                  </a:tcPr>
                </a:tc>
                <a:tc>
                  <a:txBody>
                    <a:bodyPr wrap="square"/>
                    <a:lstStyle/>
                    <a:p>
                      <a:r>
                        <a:rPr sz="1400" b="1">
                          <a:solidFill>
                            <a:srgbClr val="EFDF00"/>
                          </a:solidFill>
                          <a:latin typeface="Calibri"/>
                        </a:rPr>
                        <a:t>Situation</a:t>
                      </a:r>
                    </a:p>
                  </a:txBody>
                  <a:tcPr marL="73152" marR="73152" marT="27432" marB="27432" anchor="ctr">
                    <a:solidFill>
                      <a:srgbClr val="111111"/>
                    </a:solidFill>
                  </a:tcPr>
                </a:tc>
                <a:tc>
                  <a:txBody>
                    <a:bodyPr wrap="square"/>
                    <a:lstStyle/>
                    <a:p>
                      <a:r>
                        <a:rPr sz="1400" b="1">
                          <a:solidFill>
                            <a:srgbClr val="EFDF00"/>
                          </a:solidFill>
                          <a:latin typeface="Calibri"/>
                        </a:rPr>
                        <a:t>Objet</a:t>
                      </a:r>
                    </a:p>
                  </a:txBody>
                  <a:tcPr marL="73152" marR="73152" marT="27432" marB="27432" anchor="ctr">
                    <a:solidFill>
                      <a:srgbClr val="111111"/>
                    </a:solidFill>
                  </a:tcPr>
                </a:tc>
              </a:tr>
              <a:tr h="566928">
                <a:tc>
                  <a:txBody>
                    <a:bodyPr wrap="square"/>
                    <a:lstStyle/>
                    <a:p>
                      <a:r>
                        <a:rPr sz="1400" b="1">
                          <a:solidFill>
                            <a:srgbClr val="1A1A1A"/>
                          </a:solidFill>
                          <a:latin typeface="Calibri"/>
                        </a:rPr>
                        <a:t>ISO 14001</a:t>
                      </a:r>
                    </a:p>
                  </a:txBody>
                  <a:tcPr marL="73152" marR="73152" marT="27432" marB="27432" anchor="ctr">
                    <a:solidFill>
                      <a:srgbClr val="FFFFFF"/>
                    </a:solidFill>
                  </a:tcPr>
                </a:tc>
                <a:tc>
                  <a:txBody>
                    <a:bodyPr wrap="square"/>
                    <a:lstStyle/>
                    <a:p>
                      <a:r>
                        <a:rPr sz="1400" b="0">
                          <a:solidFill>
                            <a:srgbClr val="1A1A1A"/>
                          </a:solidFill>
                          <a:latin typeface="Calibri"/>
                        </a:rPr>
                        <a:t>100 % des usines</a:t>
                      </a:r>
                    </a:p>
                  </a:txBody>
                  <a:tcPr marL="73152" marR="73152" marT="27432" marB="27432" anchor="ctr">
                    <a:solidFill>
                      <a:srgbClr val="FFFFFF"/>
                    </a:solidFill>
                  </a:tcPr>
                </a:tc>
                <a:tc>
                  <a:txBody>
                    <a:bodyPr wrap="square"/>
                    <a:lstStyle/>
                    <a:p>
                      <a:r>
                        <a:rPr sz="1400" b="0">
                          <a:solidFill>
                            <a:srgbClr val="1A1A1A"/>
                          </a:solidFill>
                          <a:latin typeface="Calibri"/>
                        </a:rPr>
                        <a:t>Environnement</a:t>
                      </a:r>
                    </a:p>
                  </a:txBody>
                  <a:tcPr marL="73152" marR="73152" marT="27432" marB="27432" anchor="ctr">
                    <a:solidFill>
                      <a:srgbClr val="FFFFFF"/>
                    </a:solidFill>
                  </a:tcPr>
                </a:tc>
              </a:tr>
              <a:tr h="566928">
                <a:tc>
                  <a:txBody>
                    <a:bodyPr wrap="square"/>
                    <a:lstStyle/>
                    <a:p>
                      <a:r>
                        <a:rPr sz="1400" b="1">
                          <a:solidFill>
                            <a:srgbClr val="1A1A1A"/>
                          </a:solidFill>
                          <a:latin typeface="Calibri"/>
                        </a:rPr>
                        <a:t>ISO 45001</a:t>
                      </a:r>
                    </a:p>
                  </a:txBody>
                  <a:tcPr marL="73152" marR="73152" marT="27432" marB="27432" anchor="ctr">
                    <a:solidFill>
                      <a:srgbClr val="F3F1EC"/>
                    </a:solidFill>
                  </a:tcPr>
                </a:tc>
                <a:tc>
                  <a:txBody>
                    <a:bodyPr wrap="square"/>
                    <a:lstStyle/>
                    <a:p>
                      <a:r>
                        <a:rPr sz="1400" b="1">
                          <a:solidFill>
                            <a:srgbClr val="FFFFFF"/>
                          </a:solidFill>
                          <a:latin typeface="Calibri"/>
                        </a:rPr>
                        <a:t>2 sites seulement</a:t>
                      </a:r>
                    </a:p>
                  </a:txBody>
                  <a:tcPr marL="73152" marR="73152" marT="27432" marB="27432" anchor="ctr">
                    <a:solidFill>
                      <a:srgbClr val="B0852F"/>
                    </a:solidFill>
                  </a:tcPr>
                </a:tc>
                <a:tc>
                  <a:txBody>
                    <a:bodyPr wrap="square"/>
                    <a:lstStyle/>
                    <a:p>
                      <a:r>
                        <a:rPr sz="1400" b="0">
                          <a:solidFill>
                            <a:srgbClr val="1A1A1A"/>
                          </a:solidFill>
                          <a:latin typeface="Calibri"/>
                        </a:rPr>
                        <a:t>Santé-sécurité</a:t>
                      </a:r>
                    </a:p>
                  </a:txBody>
                  <a:tcPr marL="73152" marR="73152" marT="27432" marB="27432" anchor="ctr">
                    <a:solidFill>
                      <a:srgbClr val="F3F1EC"/>
                    </a:solidFill>
                  </a:tcPr>
                </a:tc>
              </a:tr>
              <a:tr h="566928">
                <a:tc>
                  <a:txBody>
                    <a:bodyPr wrap="square"/>
                    <a:lstStyle/>
                    <a:p>
                      <a:r>
                        <a:rPr sz="1400" b="1">
                          <a:solidFill>
                            <a:srgbClr val="1A1A1A"/>
                          </a:solidFill>
                          <a:latin typeface="Calibri"/>
                        </a:rPr>
                        <a:t>ISO 37001</a:t>
                      </a:r>
                    </a:p>
                  </a:txBody>
                  <a:tcPr marL="73152" marR="73152" marT="27432" marB="27432" anchor="ctr">
                    <a:solidFill>
                      <a:srgbClr val="FFFFFF"/>
                    </a:solidFill>
                  </a:tcPr>
                </a:tc>
                <a:tc>
                  <a:txBody>
                    <a:bodyPr wrap="square"/>
                    <a:lstStyle/>
                    <a:p>
                      <a:r>
                        <a:rPr sz="1400" b="0">
                          <a:solidFill>
                            <a:srgbClr val="1A1A1A"/>
                          </a:solidFill>
                          <a:latin typeface="Calibri"/>
                        </a:rPr>
                        <a:t>Groupe certifié (2024)</a:t>
                      </a:r>
                    </a:p>
                  </a:txBody>
                  <a:tcPr marL="73152" marR="73152" marT="27432" marB="27432" anchor="ctr">
                    <a:solidFill>
                      <a:srgbClr val="FFFFFF"/>
                    </a:solidFill>
                  </a:tcPr>
                </a:tc>
                <a:tc>
                  <a:txBody>
                    <a:bodyPr wrap="square"/>
                    <a:lstStyle/>
                    <a:p>
                      <a:r>
                        <a:rPr sz="1400" b="0">
                          <a:solidFill>
                            <a:srgbClr val="1A1A1A"/>
                          </a:solidFill>
                          <a:latin typeface="Calibri"/>
                        </a:rPr>
                        <a:t>Anticorruption</a:t>
                      </a:r>
                    </a:p>
                  </a:txBody>
                  <a:tcPr marL="73152" marR="73152" marT="27432" marB="27432" anchor="ctr">
                    <a:solidFill>
                      <a:srgbClr val="FFFFFF"/>
                    </a:solidFill>
                  </a:tcPr>
                </a:tc>
              </a:tr>
              <a:tr h="566928">
                <a:tc>
                  <a:txBody>
                    <a:bodyPr wrap="square"/>
                    <a:lstStyle/>
                    <a:p>
                      <a:r>
                        <a:rPr sz="1400" b="1">
                          <a:solidFill>
                            <a:srgbClr val="1A1A1A"/>
                          </a:solidFill>
                          <a:latin typeface="Calibri"/>
                        </a:rPr>
                        <a:t>SBTi</a:t>
                      </a:r>
                    </a:p>
                  </a:txBody>
                  <a:tcPr marL="73152" marR="73152" marT="27432" marB="27432" anchor="ctr">
                    <a:solidFill>
                      <a:srgbClr val="F3F1EC"/>
                    </a:solidFill>
                  </a:tcPr>
                </a:tc>
                <a:tc>
                  <a:txBody>
                    <a:bodyPr wrap="square"/>
                    <a:lstStyle/>
                    <a:p>
                      <a:r>
                        <a:rPr sz="1400" b="0">
                          <a:solidFill>
                            <a:srgbClr val="1A1A1A"/>
                          </a:solidFill>
                          <a:latin typeface="Calibri"/>
                        </a:rPr>
                        <a:t>1er constructeur (2019)</a:t>
                      </a:r>
                    </a:p>
                  </a:txBody>
                  <a:tcPr marL="73152" marR="73152" marT="27432" marB="27432" anchor="ctr">
                    <a:solidFill>
                      <a:srgbClr val="F3F1EC"/>
                    </a:solidFill>
                  </a:tcPr>
                </a:tc>
                <a:tc>
                  <a:txBody>
                    <a:bodyPr wrap="square"/>
                    <a:lstStyle/>
                    <a:p>
                      <a:r>
                        <a:rPr sz="1400" b="0">
                          <a:solidFill>
                            <a:srgbClr val="1A1A1A"/>
                          </a:solidFill>
                          <a:latin typeface="Calibri"/>
                        </a:rPr>
                        <a:t>Objectifs climat</a:t>
                      </a:r>
                    </a:p>
                  </a:txBody>
                  <a:tcPr marL="73152" marR="73152" marT="27432" marB="27432" anchor="ctr">
                    <a:solidFill>
                      <a:srgbClr val="F3F1EC"/>
                    </a:solidFill>
                  </a:tcPr>
                </a:tc>
              </a:tr>
              <a:tr h="566928">
                <a:tc>
                  <a:txBody>
                    <a:bodyPr wrap="square"/>
                    <a:lstStyle/>
                    <a:p>
                      <a:r>
                        <a:rPr sz="1400" b="1">
                          <a:solidFill>
                            <a:srgbClr val="1A1A1A"/>
                          </a:solidFill>
                          <a:latin typeface="Calibri"/>
                        </a:rPr>
                        <a:t>CAC 40 ESG</a:t>
                      </a:r>
                    </a:p>
                  </a:txBody>
                  <a:tcPr marL="73152" marR="73152" marT="27432" marB="27432" anchor="ctr">
                    <a:solidFill>
                      <a:srgbClr val="FFFFFF"/>
                    </a:solidFill>
                  </a:tcPr>
                </a:tc>
                <a:tc>
                  <a:txBody>
                    <a:bodyPr wrap="square"/>
                    <a:lstStyle/>
                    <a:p>
                      <a:r>
                        <a:rPr sz="1400" b="0">
                          <a:solidFill>
                            <a:srgbClr val="1A1A1A"/>
                          </a:solidFill>
                          <a:latin typeface="Calibri"/>
                        </a:rPr>
                        <a:t>Depuis 2023</a:t>
                      </a:r>
                    </a:p>
                  </a:txBody>
                  <a:tcPr marL="73152" marR="73152" marT="27432" marB="27432" anchor="ctr">
                    <a:solidFill>
                      <a:srgbClr val="FFFFFF"/>
                    </a:solidFill>
                  </a:tcPr>
                </a:tc>
                <a:tc>
                  <a:txBody>
                    <a:bodyPr wrap="square"/>
                    <a:lstStyle/>
                    <a:p>
                      <a:r>
                        <a:rPr sz="1400" b="0">
                          <a:solidFill>
                            <a:srgbClr val="1A1A1A"/>
                          </a:solidFill>
                          <a:latin typeface="Calibri"/>
                        </a:rPr>
                        <a:t>Indice boursier</a:t>
                      </a:r>
                    </a:p>
                  </a:txBody>
                  <a:tcPr marL="73152" marR="73152" marT="27432" marB="27432" anchor="ctr">
                    <a:solidFill>
                      <a:srgbClr val="FFFFFF"/>
                    </a:solidFill>
                  </a:tcPr>
                </a:tc>
              </a:tr>
            </a:tbl>
          </a:graphicData>
        </a:graphic>
      </p:graphicFrame>
      <p:graphicFrame>
        <p:nvGraphicFramePr>
          <p:cNvPr id="6" name="Table 5"/>
          <p:cNvGraphicFramePr>
            <a:graphicFrameLocks noGrp="1"/>
          </p:cNvGraphicFramePr>
          <p:nvPr/>
        </p:nvGraphicFramePr>
        <p:xfrm>
          <a:off x="6492240" y="1737360"/>
          <a:ext cx="5166360" cy="2267712"/>
        </p:xfrm>
        <a:graphic>
          <a:graphicData uri="http://schemas.openxmlformats.org/drawingml/2006/table">
            <a:tbl>
              <a:tblPr firstRow="1" bandRow="1">
                <a:tableStyleId>{5C22544A-7EE6-4342-B048-85BDC9FD1C3A}</a:tableStyleId>
              </a:tblPr>
              <a:tblGrid>
                <a:gridCol w="3246120"/>
                <a:gridCol w="1920240"/>
              </a:tblGrid>
              <a:tr h="566928">
                <a:tc>
                  <a:txBody>
                    <a:bodyPr wrap="square"/>
                    <a:lstStyle/>
                    <a:p>
                      <a:r>
                        <a:rPr sz="1400" b="1">
                          <a:solidFill>
                            <a:srgbClr val="EFDF00"/>
                          </a:solidFill>
                          <a:latin typeface="Calibri"/>
                        </a:rPr>
                        <a:t>Évaluateur</a:t>
                      </a:r>
                    </a:p>
                  </a:txBody>
                  <a:tcPr marL="73152" marR="73152" marT="27432" marB="27432" anchor="ctr">
                    <a:solidFill>
                      <a:srgbClr val="111111"/>
                    </a:solidFill>
                  </a:tcPr>
                </a:tc>
                <a:tc>
                  <a:txBody>
                    <a:bodyPr wrap="square"/>
                    <a:lstStyle/>
                    <a:p>
                      <a:r>
                        <a:rPr sz="1400" b="1">
                          <a:solidFill>
                            <a:srgbClr val="EFDF00"/>
                          </a:solidFill>
                          <a:latin typeface="Calibri"/>
                        </a:rPr>
                        <a:t>Renault</a:t>
                      </a:r>
                    </a:p>
                  </a:txBody>
                  <a:tcPr marL="73152" marR="73152" marT="27432" marB="27432" anchor="ctr">
                    <a:solidFill>
                      <a:srgbClr val="111111"/>
                    </a:solidFill>
                  </a:tcPr>
                </a:tc>
              </a:tr>
              <a:tr h="566928">
                <a:tc>
                  <a:txBody>
                    <a:bodyPr wrap="square"/>
                    <a:lstStyle/>
                    <a:p>
                      <a:r>
                        <a:rPr sz="1400" b="1">
                          <a:solidFill>
                            <a:srgbClr val="1A1A1A"/>
                          </a:solidFill>
                          <a:latin typeface="Calibri"/>
                        </a:rPr>
                        <a:t>MSCI · Sustainalytics · CDP</a:t>
                      </a:r>
                    </a:p>
                  </a:txBody>
                  <a:tcPr marL="73152" marR="73152" marT="27432" marB="27432" anchor="ctr">
                    <a:solidFill>
                      <a:srgbClr val="FFFFFF"/>
                    </a:solidFill>
                  </a:tcPr>
                </a:tc>
                <a:tc>
                  <a:txBody>
                    <a:bodyPr wrap="square"/>
                    <a:lstStyle/>
                    <a:p>
                      <a:r>
                        <a:rPr sz="1400" b="0">
                          <a:solidFill>
                            <a:srgbClr val="1A1A1A"/>
                          </a:solidFill>
                          <a:latin typeface="Calibri"/>
                        </a:rPr>
                        <a:t>[À VÉRIFIER]</a:t>
                      </a:r>
                    </a:p>
                  </a:txBody>
                  <a:tcPr marL="73152" marR="73152" marT="27432" marB="27432" anchor="ctr">
                    <a:solidFill>
                      <a:srgbClr val="FFFFFF"/>
                    </a:solidFill>
                  </a:tcPr>
                </a:tc>
              </a:tr>
              <a:tr h="566928">
                <a:tc>
                  <a:txBody>
                    <a:bodyPr wrap="square"/>
                    <a:lstStyle/>
                    <a:p>
                      <a:r>
                        <a:rPr sz="1400" b="1">
                          <a:solidFill>
                            <a:srgbClr val="1A1A1A"/>
                          </a:solidFill>
                          <a:latin typeface="Calibri"/>
                        </a:rPr>
                        <a:t>InfluenceMap (lobbying)</a:t>
                      </a:r>
                    </a:p>
                  </a:txBody>
                  <a:tcPr marL="73152" marR="73152" marT="27432" marB="27432" anchor="ctr">
                    <a:solidFill>
                      <a:srgbClr val="F3F1EC"/>
                    </a:solidFill>
                  </a:tcPr>
                </a:tc>
                <a:tc>
                  <a:txBody>
                    <a:bodyPr wrap="square"/>
                    <a:lstStyle/>
                    <a:p>
                      <a:r>
                        <a:rPr sz="1400" b="1">
                          <a:solidFill>
                            <a:srgbClr val="FFFFFF"/>
                          </a:solidFill>
                          <a:latin typeface="Calibri"/>
                        </a:rPr>
                        <a:t>D+</a:t>
                      </a:r>
                    </a:p>
                  </a:txBody>
                  <a:tcPr marL="73152" marR="73152" marT="27432" marB="27432" anchor="ctr">
                    <a:solidFill>
                      <a:srgbClr val="A32D2D"/>
                    </a:solidFill>
                  </a:tcPr>
                </a:tc>
              </a:tr>
              <a:tr h="566928">
                <a:tc>
                  <a:txBody>
                    <a:bodyPr wrap="square"/>
                    <a:lstStyle/>
                    <a:p>
                      <a:r>
                        <a:rPr sz="1400" b="1">
                          <a:solidFill>
                            <a:srgbClr val="1A1A1A"/>
                          </a:solidFill>
                          <a:latin typeface="Calibri"/>
                        </a:rPr>
                        <a:t>Amnesty (batteries, 2024)</a:t>
                      </a:r>
                    </a:p>
                  </a:txBody>
                  <a:tcPr marL="73152" marR="73152" marT="27432" marB="27432" anchor="ctr">
                    <a:solidFill>
                      <a:srgbClr val="FFFFFF"/>
                    </a:solidFill>
                  </a:tcPr>
                </a:tc>
                <a:tc>
                  <a:txBody>
                    <a:bodyPr wrap="square"/>
                    <a:lstStyle/>
                    <a:p>
                      <a:r>
                        <a:rPr sz="1400" b="1">
                          <a:solidFill>
                            <a:srgbClr val="FFFFFF"/>
                          </a:solidFill>
                          <a:latin typeface="Calibri"/>
                        </a:rPr>
                        <a:t>27 / 90</a:t>
                      </a:r>
                    </a:p>
                  </a:txBody>
                  <a:tcPr marL="73152" marR="73152" marT="27432" marB="27432" anchor="ctr">
                    <a:solidFill>
                      <a:srgbClr val="A32D2D"/>
                    </a:solidFill>
                  </a:tcPr>
                </a:tc>
              </a:tr>
            </a:tbl>
          </a:graphicData>
        </a:graphic>
      </p:graphicFrame>
      <p:sp>
        <p:nvSpPr>
          <p:cNvPr id="7" name="Rounded Rectangle 6"/>
          <p:cNvSpPr/>
          <p:nvPr/>
        </p:nvSpPr>
        <p:spPr>
          <a:xfrm>
            <a:off x="6492240" y="4206240"/>
            <a:ext cx="5166360" cy="1463040"/>
          </a:xfrm>
          <a:prstGeom prst="roundRect">
            <a:avLst>
              <a:gd name="adj" fmla="val 8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4251960"/>
            <a:ext cx="4846320" cy="1371600"/>
          </a:xfrm>
          <a:prstGeom prst="rect">
            <a:avLst/>
          </a:prstGeom>
          <a:noFill/>
        </p:spPr>
        <p:txBody>
          <a:bodyPr wrap="square" lIns="45720" rIns="45720" tIns="27432" bIns="27432" anchor="ctr">
            <a:spAutoFit/>
          </a:bodyPr>
          <a:lstStyle/>
          <a:p>
            <a:pPr algn="l"/>
            <a:r>
              <a:rPr sz="1600" b="0" i="0">
                <a:solidFill>
                  <a:srgbClr val="1A1A1A"/>
                </a:solidFill>
                <a:latin typeface="Calibri"/>
              </a:rPr>
              <a:t>Les notations mesurent la qualité du reporting ; </a:t>
            </a:r>
            <a:r>
              <a:rPr sz="1600" b="1" i="0">
                <a:solidFill>
                  <a:srgbClr val="1A1A1A"/>
                </a:solidFill>
                <a:latin typeface="Calibri"/>
              </a:rPr>
              <a:t>les ONG mesurent l'impact et la cohérence.</a:t>
            </a:r>
          </a:p>
        </p:txBody>
      </p:sp>
      <p:sp>
        <p:nvSpPr>
          <p:cNvPr id="9" name="TextBox 8"/>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DEU 2025, p. 93, 97, 130, 197 ; InfluenceMap ; Amnesty International, « Recharge for Rights »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II.1 – ANALYSE CRITIQUE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12</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Ce qui aurait pu être fait</a:t>
            </a:r>
          </a:p>
        </p:txBody>
      </p:sp>
      <p:sp>
        <p:nvSpPr>
          <p:cNvPr id="5" name="Oval 4"/>
          <p:cNvSpPr/>
          <p:nvPr/>
        </p:nvSpPr>
        <p:spPr>
          <a:xfrm>
            <a:off x="548640" y="178308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2200" b="1" i="0">
                <a:solidFill>
                  <a:srgbClr val="EFDF00"/>
                </a:solidFill>
                <a:latin typeface="Calibri"/>
              </a:rPr>
              <a:t>1</a:t>
            </a:r>
          </a:p>
        </p:txBody>
      </p:sp>
      <p:sp>
        <p:nvSpPr>
          <p:cNvPr id="6" name="TextBox 5"/>
          <p:cNvSpPr txBox="1"/>
          <p:nvPr/>
        </p:nvSpPr>
        <p:spPr>
          <a:xfrm>
            <a:off x="1417320" y="1764792"/>
            <a:ext cx="5120640" cy="411480"/>
          </a:xfrm>
          <a:prstGeom prst="rect">
            <a:avLst/>
          </a:prstGeom>
          <a:noFill/>
        </p:spPr>
        <p:txBody>
          <a:bodyPr wrap="square" lIns="45720" rIns="45720" tIns="27432" bIns="27432" anchor="t">
            <a:spAutoFit/>
          </a:bodyPr>
          <a:lstStyle/>
          <a:p>
            <a:pPr algn="l"/>
            <a:r>
              <a:rPr sz="2000" b="1" i="0">
                <a:solidFill>
                  <a:srgbClr val="1A1A1A"/>
                </a:solidFill>
                <a:latin typeface="Calibri"/>
              </a:rPr>
              <a:t>Viser 1,5 °C sur toute la chaîne</a:t>
            </a:r>
          </a:p>
        </p:txBody>
      </p:sp>
      <p:sp>
        <p:nvSpPr>
          <p:cNvPr id="7" name="TextBox 6"/>
          <p:cNvSpPr txBox="1"/>
          <p:nvPr/>
        </p:nvSpPr>
        <p:spPr>
          <a:xfrm>
            <a:off x="1417320" y="2148840"/>
            <a:ext cx="9601200" cy="365760"/>
          </a:xfrm>
          <a:prstGeom prst="rect">
            <a:avLst/>
          </a:prstGeom>
          <a:noFill/>
        </p:spPr>
        <p:txBody>
          <a:bodyPr wrap="square" lIns="45720" rIns="45720" tIns="27432" bIns="27432" anchor="t">
            <a:spAutoFit/>
          </a:bodyPr>
          <a:lstStyle/>
          <a:p>
            <a:pPr algn="l"/>
            <a:r>
              <a:rPr sz="1500" b="0" i="0">
                <a:solidFill>
                  <a:srgbClr val="5E5E5E"/>
                </a:solidFill>
                <a:latin typeface="Calibri"/>
              </a:rPr>
              <a:t>cibles 2030 déjà dépassées → nouvelle méthode SBTi automobile</a:t>
            </a:r>
          </a:p>
        </p:txBody>
      </p:sp>
      <p:sp>
        <p:nvSpPr>
          <p:cNvPr id="8" name="Oval 7"/>
          <p:cNvSpPr/>
          <p:nvPr/>
        </p:nvSpPr>
        <p:spPr>
          <a:xfrm>
            <a:off x="548640" y="2679191"/>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2200" b="1" i="0">
                <a:solidFill>
                  <a:srgbClr val="EFDF00"/>
                </a:solidFill>
                <a:latin typeface="Calibri"/>
              </a:rPr>
              <a:t>2</a:t>
            </a:r>
          </a:p>
        </p:txBody>
      </p:sp>
      <p:sp>
        <p:nvSpPr>
          <p:cNvPr id="9" name="TextBox 8"/>
          <p:cNvSpPr txBox="1"/>
          <p:nvPr/>
        </p:nvSpPr>
        <p:spPr>
          <a:xfrm>
            <a:off x="1417320" y="2660903"/>
            <a:ext cx="5120640" cy="411480"/>
          </a:xfrm>
          <a:prstGeom prst="rect">
            <a:avLst/>
          </a:prstGeom>
          <a:noFill/>
        </p:spPr>
        <p:txBody>
          <a:bodyPr wrap="square" lIns="45720" rIns="45720" tIns="27432" bIns="27432" anchor="t">
            <a:spAutoFit/>
          </a:bodyPr>
          <a:lstStyle/>
          <a:p>
            <a:pPr algn="l"/>
            <a:r>
              <a:rPr sz="2000" b="1" i="0">
                <a:solidFill>
                  <a:srgbClr val="1A1A1A"/>
                </a:solidFill>
                <a:latin typeface="Calibri"/>
              </a:rPr>
              <a:t>Devenir société à mission</a:t>
            </a:r>
          </a:p>
        </p:txBody>
      </p:sp>
      <p:sp>
        <p:nvSpPr>
          <p:cNvPr id="10" name="TextBox 9"/>
          <p:cNvSpPr txBox="1"/>
          <p:nvPr/>
        </p:nvSpPr>
        <p:spPr>
          <a:xfrm>
            <a:off x="1417320" y="3044951"/>
            <a:ext cx="9601200" cy="365760"/>
          </a:xfrm>
          <a:prstGeom prst="rect">
            <a:avLst/>
          </a:prstGeom>
          <a:noFill/>
        </p:spPr>
        <p:txBody>
          <a:bodyPr wrap="square" lIns="45720" rIns="45720" tIns="27432" bIns="27432" anchor="t">
            <a:spAutoFit/>
          </a:bodyPr>
          <a:lstStyle/>
          <a:p>
            <a:pPr algn="l"/>
            <a:r>
              <a:rPr sz="1500" b="0" i="0">
                <a:solidFill>
                  <a:srgbClr val="5E5E5E"/>
                </a:solidFill>
                <a:latin typeface="Calibri"/>
              </a:rPr>
              <a:t>rendre la raison d'être opposable (B Corp peu adapté)</a:t>
            </a:r>
          </a:p>
        </p:txBody>
      </p:sp>
      <p:sp>
        <p:nvSpPr>
          <p:cNvPr id="11" name="Oval 10"/>
          <p:cNvSpPr/>
          <p:nvPr/>
        </p:nvSpPr>
        <p:spPr>
          <a:xfrm>
            <a:off x="548640" y="3575304"/>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2200" b="1" i="0">
                <a:solidFill>
                  <a:srgbClr val="EFDF00"/>
                </a:solidFill>
                <a:latin typeface="Calibri"/>
              </a:rPr>
              <a:t>3</a:t>
            </a:r>
          </a:p>
        </p:txBody>
      </p:sp>
      <p:sp>
        <p:nvSpPr>
          <p:cNvPr id="12" name="TextBox 11"/>
          <p:cNvSpPr txBox="1"/>
          <p:nvPr/>
        </p:nvSpPr>
        <p:spPr>
          <a:xfrm>
            <a:off x="1417320" y="3557016"/>
            <a:ext cx="5120640" cy="411480"/>
          </a:xfrm>
          <a:prstGeom prst="rect">
            <a:avLst/>
          </a:prstGeom>
          <a:noFill/>
        </p:spPr>
        <p:txBody>
          <a:bodyPr wrap="square" lIns="45720" rIns="45720" tIns="27432" bIns="27432" anchor="t">
            <a:spAutoFit/>
          </a:bodyPr>
          <a:lstStyle/>
          <a:p>
            <a:pPr algn="l"/>
            <a:r>
              <a:rPr sz="2000" b="1" i="0">
                <a:solidFill>
                  <a:srgbClr val="1A1A1A"/>
                </a:solidFill>
                <a:latin typeface="Calibri"/>
              </a:rPr>
              <a:t>Tracer les minerais jusqu'à la mine</a:t>
            </a:r>
          </a:p>
        </p:txBody>
      </p:sp>
      <p:sp>
        <p:nvSpPr>
          <p:cNvPr id="13" name="TextBox 12"/>
          <p:cNvSpPr txBox="1"/>
          <p:nvPr/>
        </p:nvSpPr>
        <p:spPr>
          <a:xfrm>
            <a:off x="1417320" y="3941064"/>
            <a:ext cx="9601200" cy="365760"/>
          </a:xfrm>
          <a:prstGeom prst="rect">
            <a:avLst/>
          </a:prstGeom>
          <a:noFill/>
        </p:spPr>
        <p:txBody>
          <a:bodyPr wrap="square" lIns="45720" rIns="45720" tIns="27432" bIns="27432" anchor="t">
            <a:spAutoFit/>
          </a:bodyPr>
          <a:lstStyle/>
          <a:p>
            <a:pPr algn="l"/>
            <a:r>
              <a:rPr sz="1500" b="0" i="0">
                <a:solidFill>
                  <a:srgbClr val="5E5E5E"/>
                </a:solidFill>
                <a:latin typeface="Calibri"/>
              </a:rPr>
              <a:t>diligence raisonnable batteries « en construction »</a:t>
            </a:r>
          </a:p>
        </p:txBody>
      </p:sp>
      <p:sp>
        <p:nvSpPr>
          <p:cNvPr id="14" name="Oval 13"/>
          <p:cNvSpPr/>
          <p:nvPr/>
        </p:nvSpPr>
        <p:spPr>
          <a:xfrm>
            <a:off x="548640" y="4471416"/>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2200" b="1" i="0">
                <a:solidFill>
                  <a:srgbClr val="EFDF00"/>
                </a:solidFill>
                <a:latin typeface="Calibri"/>
              </a:rPr>
              <a:t>4</a:t>
            </a:r>
          </a:p>
        </p:txBody>
      </p:sp>
      <p:sp>
        <p:nvSpPr>
          <p:cNvPr id="15" name="TextBox 14"/>
          <p:cNvSpPr txBox="1"/>
          <p:nvPr/>
        </p:nvSpPr>
        <p:spPr>
          <a:xfrm>
            <a:off x="1417320" y="4453128"/>
            <a:ext cx="5120640" cy="411480"/>
          </a:xfrm>
          <a:prstGeom prst="rect">
            <a:avLst/>
          </a:prstGeom>
          <a:noFill/>
        </p:spPr>
        <p:txBody>
          <a:bodyPr wrap="square" lIns="45720" rIns="45720" tIns="27432" bIns="27432" anchor="t">
            <a:spAutoFit/>
          </a:bodyPr>
          <a:lstStyle/>
          <a:p>
            <a:pPr algn="l"/>
            <a:r>
              <a:rPr sz="2000" b="1" i="0">
                <a:solidFill>
                  <a:srgbClr val="1A1A1A"/>
                </a:solidFill>
                <a:latin typeface="Calibri"/>
              </a:rPr>
              <a:t>Généraliser l'ISO 45001</a:t>
            </a:r>
          </a:p>
        </p:txBody>
      </p:sp>
      <p:sp>
        <p:nvSpPr>
          <p:cNvPr id="16" name="TextBox 15"/>
          <p:cNvSpPr txBox="1"/>
          <p:nvPr/>
        </p:nvSpPr>
        <p:spPr>
          <a:xfrm>
            <a:off x="1417320" y="4837176"/>
            <a:ext cx="9601200" cy="365760"/>
          </a:xfrm>
          <a:prstGeom prst="rect">
            <a:avLst/>
          </a:prstGeom>
          <a:noFill/>
        </p:spPr>
        <p:txBody>
          <a:bodyPr wrap="square" lIns="45720" rIns="45720" tIns="27432" bIns="27432" anchor="t">
            <a:spAutoFit/>
          </a:bodyPr>
          <a:lstStyle/>
          <a:p>
            <a:pPr algn="l"/>
            <a:r>
              <a:rPr sz="1500" b="0" i="0">
                <a:solidFill>
                  <a:srgbClr val="5E5E5E"/>
                </a:solidFill>
                <a:latin typeface="Calibri"/>
              </a:rPr>
              <a:t>10 % des salariés couverts aujourd'hui</a:t>
            </a:r>
          </a:p>
        </p:txBody>
      </p:sp>
      <p:sp>
        <p:nvSpPr>
          <p:cNvPr id="17" name="Oval 16"/>
          <p:cNvSpPr/>
          <p:nvPr/>
        </p:nvSpPr>
        <p:spPr>
          <a:xfrm>
            <a:off x="548640" y="5367528"/>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2200" b="1" i="0">
                <a:solidFill>
                  <a:srgbClr val="EFDF00"/>
                </a:solidFill>
                <a:latin typeface="Calibri"/>
              </a:rPr>
              <a:t>5</a:t>
            </a:r>
          </a:p>
        </p:txBody>
      </p:sp>
      <p:sp>
        <p:nvSpPr>
          <p:cNvPr id="18" name="TextBox 17"/>
          <p:cNvSpPr txBox="1"/>
          <p:nvPr/>
        </p:nvSpPr>
        <p:spPr>
          <a:xfrm>
            <a:off x="1417320" y="5349240"/>
            <a:ext cx="5120640" cy="411480"/>
          </a:xfrm>
          <a:prstGeom prst="rect">
            <a:avLst/>
          </a:prstGeom>
          <a:noFill/>
        </p:spPr>
        <p:txBody>
          <a:bodyPr wrap="square" lIns="45720" rIns="45720" tIns="27432" bIns="27432" anchor="t">
            <a:spAutoFit/>
          </a:bodyPr>
          <a:lstStyle/>
          <a:p>
            <a:pPr algn="l"/>
            <a:r>
              <a:rPr sz="2000" b="1" i="0">
                <a:solidFill>
                  <a:srgbClr val="1A1A1A"/>
                </a:solidFill>
                <a:latin typeface="Calibri"/>
              </a:rPr>
              <a:t>Publier l'écart salarial par pays</a:t>
            </a:r>
          </a:p>
        </p:txBody>
      </p:sp>
      <p:sp>
        <p:nvSpPr>
          <p:cNvPr id="19" name="TextBox 18"/>
          <p:cNvSpPr txBox="1"/>
          <p:nvPr/>
        </p:nvSpPr>
        <p:spPr>
          <a:xfrm>
            <a:off x="1417320" y="5733288"/>
            <a:ext cx="9601200" cy="365760"/>
          </a:xfrm>
          <a:prstGeom prst="rect">
            <a:avLst/>
          </a:prstGeom>
          <a:noFill/>
        </p:spPr>
        <p:txBody>
          <a:bodyPr wrap="square" lIns="45720" rIns="45720" tIns="27432" bIns="27432" anchor="t">
            <a:spAutoFit/>
          </a:bodyPr>
          <a:lstStyle/>
          <a:p>
            <a:pPr algn="l"/>
            <a:r>
              <a:rPr sz="1500" b="0" i="0">
                <a:solidFill>
                  <a:srgbClr val="5E5E5E"/>
                </a:solidFill>
                <a:latin typeface="Calibri"/>
              </a:rPr>
              <a:t>ouvriers inclus, comme promis par la charte</a:t>
            </a:r>
          </a:p>
        </p:txBody>
      </p:sp>
      <p:sp>
        <p:nvSpPr>
          <p:cNvPr id="20" name="TextBox 19"/>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DEU 2025, p. 135, 197, 212 ; SBTi (secteur automobile) ; Charte D&amp;I 2022.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II.1 – ANALYSE CRITIQUE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13</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Regards externes : justice, presse, ONG</a:t>
            </a:r>
          </a:p>
        </p:txBody>
      </p:sp>
      <p:sp>
        <p:nvSpPr>
          <p:cNvPr id="5" name="TextBox 4"/>
          <p:cNvSpPr txBox="1"/>
          <p:nvPr/>
        </p:nvSpPr>
        <p:spPr>
          <a:xfrm>
            <a:off x="548640" y="1737360"/>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2017</a:t>
            </a:r>
          </a:p>
        </p:txBody>
      </p:sp>
      <p:sp>
        <p:nvSpPr>
          <p:cNvPr id="6" name="Oval 5"/>
          <p:cNvSpPr/>
          <p:nvPr/>
        </p:nvSpPr>
        <p:spPr>
          <a:xfrm>
            <a:off x="2011680" y="1847088"/>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1737360"/>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Amnesty : Renault parmi les moins transparents sur le cobalt</a:t>
            </a:r>
          </a:p>
        </p:txBody>
      </p:sp>
      <p:sp>
        <p:nvSpPr>
          <p:cNvPr id="8" name="Rounded Rectangle 7"/>
          <p:cNvSpPr/>
          <p:nvPr/>
        </p:nvSpPr>
        <p:spPr>
          <a:xfrm>
            <a:off x="9966960" y="1783080"/>
            <a:ext cx="1691640" cy="411480"/>
          </a:xfrm>
          <a:prstGeom prst="roundRect">
            <a:avLst>
              <a:gd name="adj" fmla="val 50000"/>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ONG</a:t>
            </a:r>
          </a:p>
        </p:txBody>
      </p:sp>
      <p:sp>
        <p:nvSpPr>
          <p:cNvPr id="9" name="TextBox 8"/>
          <p:cNvSpPr txBox="1"/>
          <p:nvPr/>
        </p:nvSpPr>
        <p:spPr>
          <a:xfrm>
            <a:off x="548640" y="2496312"/>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06/2021</a:t>
            </a:r>
          </a:p>
        </p:txBody>
      </p:sp>
      <p:sp>
        <p:nvSpPr>
          <p:cNvPr id="10" name="Oval 9"/>
          <p:cNvSpPr/>
          <p:nvPr/>
        </p:nvSpPr>
        <p:spPr>
          <a:xfrm>
            <a:off x="2011680" y="2606040"/>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2496312"/>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Dieselgate : mise en examen pour tromperie aggravée</a:t>
            </a:r>
          </a:p>
        </p:txBody>
      </p:sp>
      <p:sp>
        <p:nvSpPr>
          <p:cNvPr id="12" name="Rounded Rectangle 11"/>
          <p:cNvSpPr/>
          <p:nvPr/>
        </p:nvSpPr>
        <p:spPr>
          <a:xfrm>
            <a:off x="9966960" y="2542032"/>
            <a:ext cx="1691640" cy="411480"/>
          </a:xfrm>
          <a:prstGeom prst="roundRect">
            <a:avLst>
              <a:gd name="adj" fmla="val 50000"/>
            </a:avLst>
          </a:prstGeom>
          <a:solidFill>
            <a:srgbClr val="B085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En cours</a:t>
            </a:r>
          </a:p>
        </p:txBody>
      </p:sp>
      <p:sp>
        <p:nvSpPr>
          <p:cNvPr id="13" name="TextBox 12"/>
          <p:cNvSpPr txBox="1"/>
          <p:nvPr/>
        </p:nvSpPr>
        <p:spPr>
          <a:xfrm>
            <a:off x="548640" y="3255263"/>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04/2025</a:t>
            </a:r>
          </a:p>
        </p:txBody>
      </p:sp>
      <p:sp>
        <p:nvSpPr>
          <p:cNvPr id="14" name="Oval 13"/>
          <p:cNvSpPr/>
          <p:nvPr/>
        </p:nvSpPr>
        <p:spPr>
          <a:xfrm>
            <a:off x="2011680" y="3364991"/>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3255263"/>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Entente sur le recyclage : 81,46 M€ d'amende (avec Nissan)</a:t>
            </a:r>
          </a:p>
        </p:txBody>
      </p:sp>
      <p:sp>
        <p:nvSpPr>
          <p:cNvPr id="16" name="Rounded Rectangle 15"/>
          <p:cNvSpPr/>
          <p:nvPr/>
        </p:nvSpPr>
        <p:spPr>
          <a:xfrm>
            <a:off x="9966960" y="3300983"/>
            <a:ext cx="1691640" cy="411480"/>
          </a:xfrm>
          <a:prstGeom prst="roundRect">
            <a:avLst>
              <a:gd name="adj" fmla="val 50000"/>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Définitif</a:t>
            </a:r>
          </a:p>
        </p:txBody>
      </p:sp>
      <p:sp>
        <p:nvSpPr>
          <p:cNvPr id="17" name="TextBox 16"/>
          <p:cNvSpPr txBox="1"/>
          <p:nvPr/>
        </p:nvSpPr>
        <p:spPr>
          <a:xfrm>
            <a:off x="548640" y="4014215"/>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07/2026</a:t>
            </a:r>
          </a:p>
        </p:txBody>
      </p:sp>
      <p:sp>
        <p:nvSpPr>
          <p:cNvPr id="18" name="Oval 17"/>
          <p:cNvSpPr/>
          <p:nvPr/>
        </p:nvSpPr>
        <p:spPr>
          <a:xfrm>
            <a:off x="2011680" y="4123944"/>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4014215"/>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Dieselgate : renvoi en correctionnelle · audience le 01/04/2027</a:t>
            </a:r>
          </a:p>
        </p:txBody>
      </p:sp>
      <p:sp>
        <p:nvSpPr>
          <p:cNvPr id="20" name="Rounded Rectangle 19"/>
          <p:cNvSpPr/>
          <p:nvPr/>
        </p:nvSpPr>
        <p:spPr>
          <a:xfrm>
            <a:off x="9966960" y="4059935"/>
            <a:ext cx="1691640" cy="411480"/>
          </a:xfrm>
          <a:prstGeom prst="roundRect">
            <a:avLst>
              <a:gd name="adj" fmla="val 50000"/>
            </a:avLst>
          </a:prstGeom>
          <a:solidFill>
            <a:srgbClr val="B085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En cours</a:t>
            </a:r>
          </a:p>
        </p:txBody>
      </p:sp>
      <p:sp>
        <p:nvSpPr>
          <p:cNvPr id="21" name="TextBox 20"/>
          <p:cNvSpPr txBox="1"/>
          <p:nvPr/>
        </p:nvSpPr>
        <p:spPr>
          <a:xfrm>
            <a:off x="548640" y="4773168"/>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09/2026</a:t>
            </a:r>
          </a:p>
        </p:txBody>
      </p:sp>
      <p:sp>
        <p:nvSpPr>
          <p:cNvPr id="22" name="Oval 21"/>
          <p:cNvSpPr/>
          <p:nvPr/>
        </p:nvSpPr>
        <p:spPr>
          <a:xfrm>
            <a:off x="2011680" y="4882896"/>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68880" y="4773168"/>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Procès Ghosn-Dati à Paris (Renault partie civile)</a:t>
            </a:r>
          </a:p>
        </p:txBody>
      </p:sp>
      <p:sp>
        <p:nvSpPr>
          <p:cNvPr id="24" name="Rounded Rectangle 23"/>
          <p:cNvSpPr/>
          <p:nvPr/>
        </p:nvSpPr>
        <p:spPr>
          <a:xfrm>
            <a:off x="9966960" y="4818888"/>
            <a:ext cx="1691640" cy="411480"/>
          </a:xfrm>
          <a:prstGeom prst="roundRect">
            <a:avLst>
              <a:gd name="adj" fmla="val 50000"/>
            </a:avLst>
          </a:prstGeom>
          <a:solidFill>
            <a:srgbClr val="B085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En cours</a:t>
            </a:r>
          </a:p>
        </p:txBody>
      </p:sp>
      <p:sp>
        <p:nvSpPr>
          <p:cNvPr id="25" name="TextBox 24"/>
          <p:cNvSpPr txBox="1"/>
          <p:nvPr/>
        </p:nvSpPr>
        <p:spPr>
          <a:xfrm>
            <a:off x="548640" y="5532119"/>
            <a:ext cx="1371600" cy="548640"/>
          </a:xfrm>
          <a:prstGeom prst="rect">
            <a:avLst/>
          </a:prstGeom>
          <a:noFill/>
        </p:spPr>
        <p:txBody>
          <a:bodyPr wrap="square" lIns="45720" rIns="45720" tIns="27432" bIns="27432" anchor="t">
            <a:spAutoFit/>
          </a:bodyPr>
          <a:lstStyle/>
          <a:p>
            <a:pPr algn="l"/>
            <a:r>
              <a:rPr sz="1800" b="1" i="0">
                <a:solidFill>
                  <a:srgbClr val="B0852F"/>
                </a:solidFill>
                <a:latin typeface="Calibri"/>
              </a:rPr>
              <a:t>2028</a:t>
            </a:r>
          </a:p>
        </p:txBody>
      </p:sp>
      <p:sp>
        <p:nvSpPr>
          <p:cNvPr id="26" name="Oval 25"/>
          <p:cNvSpPr/>
          <p:nvPr/>
        </p:nvSpPr>
        <p:spPr>
          <a:xfrm>
            <a:off x="2011680" y="5641847"/>
            <a:ext cx="256032" cy="256032"/>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5532119"/>
            <a:ext cx="7223760" cy="548640"/>
          </a:xfrm>
          <a:prstGeom prst="rect">
            <a:avLst/>
          </a:prstGeom>
          <a:noFill/>
        </p:spPr>
        <p:txBody>
          <a:bodyPr wrap="square" lIns="45720" rIns="45720" tIns="27432" bIns="27432" anchor="t">
            <a:spAutoFit/>
          </a:bodyPr>
          <a:lstStyle/>
          <a:p>
            <a:pPr algn="l"/>
            <a:r>
              <a:rPr sz="1600" b="0" i="0">
                <a:solidFill>
                  <a:srgbClr val="1A1A1A"/>
                </a:solidFill>
                <a:latin typeface="Calibri"/>
              </a:rPr>
              <a:t>Russie : dernière fenêtre de l'option de rachat d'AVTOVAZ</a:t>
            </a:r>
          </a:p>
        </p:txBody>
      </p:sp>
      <p:sp>
        <p:nvSpPr>
          <p:cNvPr id="28" name="Rounded Rectangle 27"/>
          <p:cNvSpPr/>
          <p:nvPr/>
        </p:nvSpPr>
        <p:spPr>
          <a:xfrm>
            <a:off x="9966960" y="5577839"/>
            <a:ext cx="1691640" cy="411480"/>
          </a:xfrm>
          <a:prstGeom prst="roundRect">
            <a:avLst>
              <a:gd name="adj" fmla="val 50000"/>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Calibri"/>
              </a:rPr>
              <a:t>Réversible</a:t>
            </a:r>
          </a:p>
        </p:txBody>
      </p:sp>
      <p:cxnSp>
        <p:nvCxnSpPr>
          <p:cNvPr id="29" name="Connector 28"/>
          <p:cNvCxnSpPr/>
          <p:nvPr/>
        </p:nvCxnSpPr>
        <p:spPr>
          <a:xfrm>
            <a:off x="2139696" y="2011680"/>
            <a:ext cx="0" cy="3794760"/>
          </a:xfrm>
          <a:prstGeom prst="line">
            <a:avLst/>
          </a:prstGeom>
          <a:ln w="19050">
            <a:solidFill>
              <a:srgbClr val="5E5E5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DEU 2025, p. 424-426, 528 ; franceinfo (07/2026) ; Commission européenne (01/04/2025) ; L'Orient-Le Jour ; L'Usine Nouvelle (2017).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427732"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II.1 – ANALYSE CRITIQUE</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14</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Engagements écrits vs faits observés</a:t>
            </a:r>
          </a:p>
        </p:txBody>
      </p:sp>
      <p:graphicFrame>
        <p:nvGraphicFramePr>
          <p:cNvPr id="5" name="Table 4"/>
          <p:cNvGraphicFramePr>
            <a:graphicFrameLocks noGrp="1"/>
          </p:cNvGraphicFramePr>
          <p:nvPr/>
        </p:nvGraphicFramePr>
        <p:xfrm>
          <a:off x="548640" y="1737360"/>
          <a:ext cx="11064240" cy="4389120"/>
        </p:xfrm>
        <a:graphic>
          <a:graphicData uri="http://schemas.openxmlformats.org/drawingml/2006/table">
            <a:tbl>
              <a:tblPr firstRow="1" bandRow="1">
                <a:tableStyleId>{5C22544A-7EE6-4342-B048-85BDC9FD1C3A}</a:tableStyleId>
              </a:tblPr>
              <a:tblGrid>
                <a:gridCol w="4572000"/>
                <a:gridCol w="4754880"/>
                <a:gridCol w="1737360"/>
              </a:tblGrid>
              <a:tr h="731520">
                <a:tc>
                  <a:txBody>
                    <a:bodyPr wrap="square"/>
                    <a:lstStyle/>
                    <a:p>
                      <a:r>
                        <a:rPr sz="1500" b="1">
                          <a:solidFill>
                            <a:srgbClr val="EFDF00"/>
                          </a:solidFill>
                          <a:latin typeface="Calibri"/>
                        </a:rPr>
                        <a:t>Engagement écrit</a:t>
                      </a:r>
                    </a:p>
                  </a:txBody>
                  <a:tcPr marL="73152" marR="73152" marT="27432" marB="27432" anchor="ctr">
                    <a:solidFill>
                      <a:srgbClr val="111111"/>
                    </a:solidFill>
                  </a:tcPr>
                </a:tc>
                <a:tc>
                  <a:txBody>
                    <a:bodyPr wrap="square"/>
                    <a:lstStyle/>
                    <a:p>
                      <a:r>
                        <a:rPr sz="1500" b="1">
                          <a:solidFill>
                            <a:srgbClr val="EFDF00"/>
                          </a:solidFill>
                          <a:latin typeface="Calibri"/>
                        </a:rPr>
                        <a:t>Fait observé</a:t>
                      </a:r>
                    </a:p>
                  </a:txBody>
                  <a:tcPr marL="73152" marR="73152" marT="27432" marB="27432" anchor="ctr">
                    <a:solidFill>
                      <a:srgbClr val="111111"/>
                    </a:solidFill>
                  </a:tcPr>
                </a:tc>
                <a:tc>
                  <a:txBody>
                    <a:bodyPr wrap="square"/>
                    <a:lstStyle/>
                    <a:p>
                      <a:r>
                        <a:rPr sz="1500" b="1">
                          <a:solidFill>
                            <a:srgbClr val="EFDF00"/>
                          </a:solidFill>
                          <a:latin typeface="Calibri"/>
                        </a:rPr>
                        <a:t>Verdict</a:t>
                      </a:r>
                    </a:p>
                  </a:txBody>
                  <a:tcPr marL="73152" marR="73152" marT="27432" marB="27432" anchor="ctr">
                    <a:solidFill>
                      <a:srgbClr val="111111"/>
                    </a:solidFill>
                  </a:tcPr>
                </a:tc>
              </a:tr>
              <a:tr h="731520">
                <a:tc>
                  <a:txBody>
                    <a:bodyPr wrap="square"/>
                    <a:lstStyle/>
                    <a:p>
                      <a:r>
                        <a:rPr sz="1500" b="1">
                          <a:solidFill>
                            <a:srgbClr val="1A1A1A"/>
                          </a:solidFill>
                          <a:latin typeface="Calibri"/>
                        </a:rPr>
                        <a:t>Écart salarial supprimé en 2025 « dans tous les pays »</a:t>
                      </a:r>
                    </a:p>
                  </a:txBody>
                  <a:tcPr marL="73152" marR="73152" marT="27432" marB="27432" anchor="ctr">
                    <a:solidFill>
                      <a:srgbClr val="FFFFFF"/>
                    </a:solidFill>
                  </a:tcPr>
                </a:tc>
                <a:tc>
                  <a:txBody>
                    <a:bodyPr wrap="square"/>
                    <a:lstStyle/>
                    <a:p>
                      <a:r>
                        <a:rPr sz="1500" b="0">
                          <a:solidFill>
                            <a:srgbClr val="1A1A1A"/>
                          </a:solidFill>
                          <a:latin typeface="Calibri"/>
                        </a:rPr>
                        <a:t>0,8 % en faveur des femmes, mais cols blancs seulement</a:t>
                      </a:r>
                    </a:p>
                  </a:txBody>
                  <a:tcPr marL="73152" marR="73152" marT="27432" marB="27432" anchor="ctr">
                    <a:solidFill>
                      <a:srgbClr val="FFFFFF"/>
                    </a:solidFill>
                  </a:tcPr>
                </a:tc>
                <a:tc>
                  <a:txBody>
                    <a:bodyPr wrap="square"/>
                    <a:lstStyle/>
                    <a:p>
                      <a:r>
                        <a:rPr sz="1500" b="1">
                          <a:solidFill>
                            <a:srgbClr val="FFFFFF"/>
                          </a:solidFill>
                          <a:latin typeface="Calibri"/>
                        </a:rPr>
                        <a:t>Partiel</a:t>
                      </a:r>
                    </a:p>
                  </a:txBody>
                  <a:tcPr marL="73152" marR="73152" marT="27432" marB="27432" anchor="ctr">
                    <a:solidFill>
                      <a:srgbClr val="B0852F"/>
                    </a:solidFill>
                  </a:tcPr>
                </a:tc>
              </a:tr>
              <a:tr h="731520">
                <a:tc>
                  <a:txBody>
                    <a:bodyPr wrap="square"/>
                    <a:lstStyle/>
                    <a:p>
                      <a:r>
                        <a:rPr sz="1500" b="1">
                          <a:solidFill>
                            <a:srgbClr val="1A1A1A"/>
                          </a:solidFill>
                          <a:latin typeface="Calibri"/>
                        </a:rPr>
                        <a:t>Économie circulaire, « aucune étape négligée »</a:t>
                      </a:r>
                    </a:p>
                  </a:txBody>
                  <a:tcPr marL="73152" marR="73152" marT="27432" marB="27432" anchor="ctr">
                    <a:solidFill>
                      <a:srgbClr val="F3F1EC"/>
                    </a:solidFill>
                  </a:tcPr>
                </a:tc>
                <a:tc>
                  <a:txBody>
                    <a:bodyPr wrap="square"/>
                    <a:lstStyle/>
                    <a:p>
                      <a:r>
                        <a:rPr sz="1500" b="0">
                          <a:solidFill>
                            <a:srgbClr val="1A1A1A"/>
                          </a:solidFill>
                          <a:latin typeface="Calibri"/>
                        </a:rPr>
                        <a:t>Entente anti-recyclé ; cible 33 % → &gt; 30 %</a:t>
                      </a:r>
                    </a:p>
                  </a:txBody>
                  <a:tcPr marL="73152" marR="73152" marT="27432" marB="27432" anchor="ctr">
                    <a:solidFill>
                      <a:srgbClr val="F3F1EC"/>
                    </a:solidFill>
                  </a:tcPr>
                </a:tc>
                <a:tc>
                  <a:txBody>
                    <a:bodyPr wrap="square"/>
                    <a:lstStyle/>
                    <a:p>
                      <a:r>
                        <a:rPr sz="1500" b="1">
                          <a:solidFill>
                            <a:srgbClr val="FFFFFF"/>
                          </a:solidFill>
                          <a:latin typeface="Calibri"/>
                        </a:rPr>
                        <a:t>Contradiction</a:t>
                      </a:r>
                    </a:p>
                  </a:txBody>
                  <a:tcPr marL="73152" marR="73152" marT="27432" marB="27432" anchor="ctr">
                    <a:solidFill>
                      <a:srgbClr val="A32D2D"/>
                    </a:solidFill>
                  </a:tcPr>
                </a:tc>
              </a:tr>
              <a:tr h="731520">
                <a:tc>
                  <a:txBody>
                    <a:bodyPr wrap="square"/>
                    <a:lstStyle/>
                    <a:p>
                      <a:r>
                        <a:rPr sz="1500" b="1">
                          <a:solidFill>
                            <a:srgbClr val="1A1A1A"/>
                          </a:solidFill>
                          <a:latin typeface="Calibri"/>
                        </a:rPr>
                        <a:t>Net Zero des usines (2025-2030)</a:t>
                      </a:r>
                    </a:p>
                  </a:txBody>
                  <a:tcPr marL="73152" marR="73152" marT="27432" marB="27432" anchor="ctr">
                    <a:solidFill>
                      <a:srgbClr val="FFFFFF"/>
                    </a:solidFill>
                  </a:tcPr>
                </a:tc>
                <a:tc>
                  <a:txBody>
                    <a:bodyPr wrap="square"/>
                    <a:lstStyle/>
                    <a:p>
                      <a:r>
                        <a:rPr sz="1500" b="0">
                          <a:solidFill>
                            <a:srgbClr val="1A1A1A"/>
                          </a:solidFill>
                          <a:latin typeface="Calibri"/>
                        </a:rPr>
                        <a:t>Reporté après 2035</a:t>
                      </a:r>
                    </a:p>
                  </a:txBody>
                  <a:tcPr marL="73152" marR="73152" marT="27432" marB="27432" anchor="ctr">
                    <a:solidFill>
                      <a:srgbClr val="FFFFFF"/>
                    </a:solidFill>
                  </a:tcPr>
                </a:tc>
                <a:tc>
                  <a:txBody>
                    <a:bodyPr wrap="square"/>
                    <a:lstStyle/>
                    <a:p>
                      <a:r>
                        <a:rPr sz="1500" b="1">
                          <a:solidFill>
                            <a:srgbClr val="FFFFFF"/>
                          </a:solidFill>
                          <a:latin typeface="Calibri"/>
                        </a:rPr>
                        <a:t>Recul</a:t>
                      </a:r>
                    </a:p>
                  </a:txBody>
                  <a:tcPr marL="73152" marR="73152" marT="27432" marB="27432" anchor="ctr">
                    <a:solidFill>
                      <a:srgbClr val="A32D2D"/>
                    </a:solidFill>
                  </a:tcPr>
                </a:tc>
              </a:tr>
              <a:tr h="731520">
                <a:tc>
                  <a:txBody>
                    <a:bodyPr wrap="square"/>
                    <a:lstStyle/>
                    <a:p>
                      <a:r>
                        <a:rPr sz="1500" b="1">
                          <a:solidFill>
                            <a:srgbClr val="1A1A1A"/>
                          </a:solidFill>
                          <a:latin typeface="Calibri"/>
                        </a:rPr>
                        <a:t>Zéro accident en 2030</a:t>
                      </a:r>
                    </a:p>
                  </a:txBody>
                  <a:tcPr marL="73152" marR="73152" marT="27432" marB="27432" anchor="ctr">
                    <a:solidFill>
                      <a:srgbClr val="F3F1EC"/>
                    </a:solidFill>
                  </a:tcPr>
                </a:tc>
                <a:tc>
                  <a:txBody>
                    <a:bodyPr wrap="square"/>
                    <a:lstStyle/>
                    <a:p>
                      <a:r>
                        <a:rPr sz="1500" b="0">
                          <a:solidFill>
                            <a:srgbClr val="1A1A1A"/>
                          </a:solidFill>
                          <a:latin typeface="Calibri"/>
                        </a:rPr>
                        <a:t>1 242 accidents (+15 %) ; FR2 1,35</a:t>
                      </a:r>
                    </a:p>
                  </a:txBody>
                  <a:tcPr marL="73152" marR="73152" marT="27432" marB="27432" anchor="ctr">
                    <a:solidFill>
                      <a:srgbClr val="F3F1EC"/>
                    </a:solidFill>
                  </a:tcPr>
                </a:tc>
                <a:tc>
                  <a:txBody>
                    <a:bodyPr wrap="square"/>
                    <a:lstStyle/>
                    <a:p>
                      <a:r>
                        <a:rPr sz="1500" b="1">
                          <a:solidFill>
                            <a:srgbClr val="FFFFFF"/>
                          </a:solidFill>
                          <a:latin typeface="Calibri"/>
                        </a:rPr>
                        <a:t>Mitigé</a:t>
                      </a:r>
                    </a:p>
                  </a:txBody>
                  <a:tcPr marL="73152" marR="73152" marT="27432" marB="27432" anchor="ctr">
                    <a:solidFill>
                      <a:srgbClr val="B0852F"/>
                    </a:solidFill>
                  </a:tcPr>
                </a:tc>
              </a:tr>
              <a:tr h="731520">
                <a:tc>
                  <a:txBody>
                    <a:bodyPr wrap="square"/>
                    <a:lstStyle/>
                    <a:p>
                      <a:r>
                        <a:rPr sz="1500" b="1">
                          <a:solidFill>
                            <a:srgbClr val="1A1A1A"/>
                          </a:solidFill>
                          <a:latin typeface="Calibri"/>
                        </a:rPr>
                        <a:t>Droits humains dans toute la chaîne</a:t>
                      </a:r>
                    </a:p>
                  </a:txBody>
                  <a:tcPr marL="73152" marR="73152" marT="27432" marB="27432" anchor="ctr">
                    <a:solidFill>
                      <a:srgbClr val="FFFFFF"/>
                    </a:solidFill>
                  </a:tcPr>
                </a:tc>
                <a:tc>
                  <a:txBody>
                    <a:bodyPr wrap="square"/>
                    <a:lstStyle/>
                    <a:p>
                      <a:r>
                        <a:rPr sz="1500" b="0">
                          <a:solidFill>
                            <a:srgbClr val="1A1A1A"/>
                          </a:solidFill>
                          <a:latin typeface="Calibri"/>
                        </a:rPr>
                        <a:t>Rang N délégué ; Amnesty 27/90</a:t>
                      </a:r>
                    </a:p>
                  </a:txBody>
                  <a:tcPr marL="73152" marR="73152" marT="27432" marB="27432" anchor="ctr">
                    <a:solidFill>
                      <a:srgbClr val="FFFFFF"/>
                    </a:solidFill>
                  </a:tcPr>
                </a:tc>
                <a:tc>
                  <a:txBody>
                    <a:bodyPr wrap="square"/>
                    <a:lstStyle/>
                    <a:p>
                      <a:r>
                        <a:rPr sz="1500" b="1">
                          <a:solidFill>
                            <a:srgbClr val="FFFFFF"/>
                          </a:solidFill>
                          <a:latin typeface="Calibri"/>
                        </a:rPr>
                        <a:t>Insuffisant</a:t>
                      </a:r>
                    </a:p>
                  </a:txBody>
                  <a:tcPr marL="73152" marR="73152" marT="27432" marB="27432" anchor="ctr">
                    <a:solidFill>
                      <a:srgbClr val="A32D2D"/>
                    </a:solidFill>
                  </a:tcPr>
                </a:tc>
              </a:tr>
            </a:tbl>
          </a:graphicData>
        </a:graphic>
      </p:graphicFrame>
      <p:sp>
        <p:nvSpPr>
          <p:cNvPr id="6" name="TextBox 5"/>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Charte D&amp;I 2022, p. 9 ; DEU 2025, p. 137, 174, 197, 200, 212, 426 ; Amnesty International (2024).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2523744"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II.2 – GRI ET STELLANTIS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15</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Normes GRI et comparaison avec Stellantis</a:t>
            </a:r>
          </a:p>
        </p:txBody>
      </p:sp>
      <p:sp>
        <p:nvSpPr>
          <p:cNvPr id="5" name="Rounded Rectangle 4"/>
          <p:cNvSpPr/>
          <p:nvPr/>
        </p:nvSpPr>
        <p:spPr>
          <a:xfrm>
            <a:off x="548640" y="1737360"/>
            <a:ext cx="3840480" cy="4434840"/>
          </a:xfrm>
          <a:prstGeom prst="roundRect">
            <a:avLst>
              <a:gd name="adj" fmla="val 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3474720" cy="914400"/>
          </a:xfrm>
          <a:prstGeom prst="rect">
            <a:avLst/>
          </a:prstGeom>
          <a:noFill/>
        </p:spPr>
        <p:txBody>
          <a:bodyPr wrap="square" lIns="45720" rIns="45720" tIns="27432" bIns="27432" anchor="t">
            <a:spAutoFit/>
          </a:bodyPr>
          <a:lstStyle/>
          <a:p>
            <a:pPr algn="l"/>
            <a:r>
              <a:rPr sz="2000" b="1" i="0">
                <a:solidFill>
                  <a:srgbClr val="EFDF00"/>
                </a:solidFill>
                <a:latin typeface="Calibri"/>
              </a:rPr>
              <a:t>Pas de GRI sectoriel automobile</a:t>
            </a:r>
          </a:p>
        </p:txBody>
      </p:sp>
      <p:sp>
        <p:nvSpPr>
          <p:cNvPr id="7" name="TextBox 6"/>
          <p:cNvSpPr txBox="1"/>
          <p:nvPr/>
        </p:nvSpPr>
        <p:spPr>
          <a:xfrm>
            <a:off x="777240" y="2788920"/>
            <a:ext cx="3474720" cy="457200"/>
          </a:xfrm>
          <a:prstGeom prst="rect">
            <a:avLst/>
          </a:prstGeom>
          <a:noFill/>
        </p:spPr>
        <p:txBody>
          <a:bodyPr wrap="square" lIns="45720" rIns="45720" tIns="27432" bIns="27432" anchor="t">
            <a:spAutoFit/>
          </a:bodyPr>
          <a:lstStyle/>
          <a:p>
            <a:pPr algn="l"/>
            <a:r>
              <a:rPr sz="1400" b="0" i="0">
                <a:solidFill>
                  <a:srgbClr val="D6C4A0"/>
                </a:solidFill>
                <a:latin typeface="Calibri"/>
              </a:rPr>
              <a:t>→ GRI Topic Standards :</a:t>
            </a:r>
          </a:p>
        </p:txBody>
      </p:sp>
      <p:sp>
        <p:nvSpPr>
          <p:cNvPr id="8" name="Rounded Rectangle 7"/>
          <p:cNvSpPr/>
          <p:nvPr/>
        </p:nvSpPr>
        <p:spPr>
          <a:xfrm>
            <a:off x="777240" y="329184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301</a:t>
            </a:r>
          </a:p>
        </p:txBody>
      </p:sp>
      <p:sp>
        <p:nvSpPr>
          <p:cNvPr id="9" name="Rounded Rectangle 8"/>
          <p:cNvSpPr/>
          <p:nvPr/>
        </p:nvSpPr>
        <p:spPr>
          <a:xfrm>
            <a:off x="1645919" y="329184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302</a:t>
            </a:r>
          </a:p>
        </p:txBody>
      </p:sp>
      <p:sp>
        <p:nvSpPr>
          <p:cNvPr id="10" name="Rounded Rectangle 9"/>
          <p:cNvSpPr/>
          <p:nvPr/>
        </p:nvSpPr>
        <p:spPr>
          <a:xfrm>
            <a:off x="2514600" y="329184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305</a:t>
            </a:r>
          </a:p>
        </p:txBody>
      </p:sp>
      <p:sp>
        <p:nvSpPr>
          <p:cNvPr id="11" name="Rounded Rectangle 10"/>
          <p:cNvSpPr/>
          <p:nvPr/>
        </p:nvSpPr>
        <p:spPr>
          <a:xfrm>
            <a:off x="3383279" y="329184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403</a:t>
            </a:r>
          </a:p>
        </p:txBody>
      </p:sp>
      <p:sp>
        <p:nvSpPr>
          <p:cNvPr id="12" name="Rounded Rectangle 11"/>
          <p:cNvSpPr/>
          <p:nvPr/>
        </p:nvSpPr>
        <p:spPr>
          <a:xfrm>
            <a:off x="777240" y="393192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405</a:t>
            </a:r>
          </a:p>
        </p:txBody>
      </p:sp>
      <p:sp>
        <p:nvSpPr>
          <p:cNvPr id="13" name="Rounded Rectangle 12"/>
          <p:cNvSpPr/>
          <p:nvPr/>
        </p:nvSpPr>
        <p:spPr>
          <a:xfrm>
            <a:off x="1645919" y="393192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205</a:t>
            </a:r>
          </a:p>
        </p:txBody>
      </p:sp>
      <p:sp>
        <p:nvSpPr>
          <p:cNvPr id="14" name="Rounded Rectangle 13"/>
          <p:cNvSpPr/>
          <p:nvPr/>
        </p:nvSpPr>
        <p:spPr>
          <a:xfrm>
            <a:off x="2514600" y="393192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308</a:t>
            </a:r>
          </a:p>
        </p:txBody>
      </p:sp>
      <p:sp>
        <p:nvSpPr>
          <p:cNvPr id="15" name="Rounded Rectangle 14"/>
          <p:cNvSpPr/>
          <p:nvPr/>
        </p:nvSpPr>
        <p:spPr>
          <a:xfrm>
            <a:off x="3383279" y="3931920"/>
            <a:ext cx="731520" cy="457200"/>
          </a:xfrm>
          <a:prstGeom prst="roundRect">
            <a:avLst>
              <a:gd name="adj" fmla="val 30000"/>
            </a:avLst>
          </a:prstGeom>
          <a:solidFill>
            <a:srgbClr val="D6C4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i="0">
                <a:solidFill>
                  <a:srgbClr val="111111"/>
                </a:solidFill>
                <a:latin typeface="Calibri"/>
              </a:rPr>
              <a:t>414</a:t>
            </a:r>
          </a:p>
        </p:txBody>
      </p:sp>
      <p:sp>
        <p:nvSpPr>
          <p:cNvPr id="16" name="TextBox 15"/>
          <p:cNvSpPr txBox="1"/>
          <p:nvPr/>
        </p:nvSpPr>
        <p:spPr>
          <a:xfrm>
            <a:off x="777240" y="4709160"/>
            <a:ext cx="3474720" cy="1280160"/>
          </a:xfrm>
          <a:prstGeom prst="rect">
            <a:avLst/>
          </a:prstGeom>
          <a:noFill/>
        </p:spPr>
        <p:txBody>
          <a:bodyPr wrap="square" lIns="45720" rIns="45720" tIns="27432" bIns="27432" anchor="t">
            <a:spAutoFit/>
          </a:bodyPr>
          <a:lstStyle/>
          <a:p>
            <a:pPr algn="l"/>
            <a:r>
              <a:rPr sz="1500" b="0" i="0">
                <a:solidFill>
                  <a:srgbClr val="FFFFFF"/>
                </a:solidFill>
                <a:latin typeface="Calibri"/>
              </a:rPr>
              <a:t>Bonne couverture, sauf fournisseurs (308, 414)</a:t>
            </a:r>
          </a:p>
        </p:txBody>
      </p:sp>
      <p:graphicFrame>
        <p:nvGraphicFramePr>
          <p:cNvPr id="17" name="Table 16"/>
          <p:cNvGraphicFramePr>
            <a:graphicFrameLocks noGrp="1"/>
          </p:cNvGraphicFramePr>
          <p:nvPr/>
        </p:nvGraphicFramePr>
        <p:xfrm>
          <a:off x="4754880" y="1737360"/>
          <a:ext cx="6903720" cy="4224528"/>
        </p:xfrm>
        <a:graphic>
          <a:graphicData uri="http://schemas.openxmlformats.org/drawingml/2006/table">
            <a:tbl>
              <a:tblPr firstRow="1" bandRow="1">
                <a:tableStyleId>{5C22544A-7EE6-4342-B048-85BDC9FD1C3A}</a:tableStyleId>
              </a:tblPr>
              <a:tblGrid>
                <a:gridCol w="3063240"/>
                <a:gridCol w="1920240"/>
                <a:gridCol w="1920240"/>
              </a:tblGrid>
              <a:tr h="603504">
                <a:tc>
                  <a:txBody>
                    <a:bodyPr wrap="square"/>
                    <a:lstStyle/>
                    <a:p>
                      <a:r>
                        <a:rPr sz="1500" b="1">
                          <a:solidFill>
                            <a:srgbClr val="EFDF00"/>
                          </a:solidFill>
                          <a:latin typeface="Calibri"/>
                        </a:rPr>
                        <a:t>Indicateur</a:t>
                      </a:r>
                    </a:p>
                  </a:txBody>
                  <a:tcPr marL="73152" marR="73152" marT="27432" marB="27432" anchor="ctr">
                    <a:solidFill>
                      <a:srgbClr val="111111"/>
                    </a:solidFill>
                  </a:tcPr>
                </a:tc>
                <a:tc>
                  <a:txBody>
                    <a:bodyPr wrap="square"/>
                    <a:lstStyle/>
                    <a:p>
                      <a:r>
                        <a:rPr sz="1500" b="1">
                          <a:solidFill>
                            <a:srgbClr val="EFDF00"/>
                          </a:solidFill>
                          <a:latin typeface="Calibri"/>
                        </a:rPr>
                        <a:t>Renault</a:t>
                      </a:r>
                    </a:p>
                  </a:txBody>
                  <a:tcPr marL="73152" marR="73152" marT="27432" marB="27432" anchor="ctr">
                    <a:solidFill>
                      <a:srgbClr val="111111"/>
                    </a:solidFill>
                  </a:tcPr>
                </a:tc>
                <a:tc>
                  <a:txBody>
                    <a:bodyPr wrap="square"/>
                    <a:lstStyle/>
                    <a:p>
                      <a:r>
                        <a:rPr sz="1500" b="1">
                          <a:solidFill>
                            <a:srgbClr val="EFDF00"/>
                          </a:solidFill>
                          <a:latin typeface="Calibri"/>
                        </a:rPr>
                        <a:t>Stellantis</a:t>
                      </a:r>
                    </a:p>
                  </a:txBody>
                  <a:tcPr marL="73152" marR="73152" marT="27432" marB="27432" anchor="ctr">
                    <a:solidFill>
                      <a:srgbClr val="111111"/>
                    </a:solidFill>
                  </a:tcPr>
                </a:tc>
              </a:tr>
              <a:tr h="603504">
                <a:tc>
                  <a:txBody>
                    <a:bodyPr wrap="square"/>
                    <a:lstStyle/>
                    <a:p>
                      <a:r>
                        <a:rPr sz="1500" b="1">
                          <a:solidFill>
                            <a:srgbClr val="1A1A1A"/>
                          </a:solidFill>
                          <a:latin typeface="Calibri"/>
                        </a:rPr>
                        <a:t>Part de VE, pool UE 2025</a:t>
                      </a:r>
                    </a:p>
                  </a:txBody>
                  <a:tcPr marL="73152" marR="73152" marT="27432" marB="27432" anchor="ctr">
                    <a:solidFill>
                      <a:srgbClr val="FFFFFF"/>
                    </a:solidFill>
                  </a:tcPr>
                </a:tc>
                <a:tc>
                  <a:txBody>
                    <a:bodyPr wrap="square"/>
                    <a:lstStyle/>
                    <a:p>
                      <a:r>
                        <a:rPr sz="1500" b="1">
                          <a:solidFill>
                            <a:srgbClr val="FFFFFF"/>
                          </a:solidFill>
                          <a:latin typeface="Calibri"/>
                        </a:rPr>
                        <a:t>11 %</a:t>
                      </a:r>
                    </a:p>
                  </a:txBody>
                  <a:tcPr marL="73152" marR="73152" marT="27432" marB="27432" anchor="ctr">
                    <a:solidFill>
                      <a:srgbClr val="2E6B3A"/>
                    </a:solidFill>
                  </a:tcPr>
                </a:tc>
                <a:tc>
                  <a:txBody>
                    <a:bodyPr wrap="square"/>
                    <a:lstStyle/>
                    <a:p>
                      <a:r>
                        <a:rPr sz="1500" b="0">
                          <a:solidFill>
                            <a:srgbClr val="1A1A1A"/>
                          </a:solidFill>
                          <a:latin typeface="Calibri"/>
                        </a:rPr>
                        <a:t>8 %</a:t>
                      </a:r>
                    </a:p>
                  </a:txBody>
                  <a:tcPr marL="73152" marR="73152" marT="27432" marB="27432" anchor="ctr">
                    <a:solidFill>
                      <a:srgbClr val="FFFFFF"/>
                    </a:solidFill>
                  </a:tcPr>
                </a:tc>
              </a:tr>
              <a:tr h="603504">
                <a:tc>
                  <a:txBody>
                    <a:bodyPr wrap="square"/>
                    <a:lstStyle/>
                    <a:p>
                      <a:r>
                        <a:rPr sz="1500" b="1">
                          <a:solidFill>
                            <a:srgbClr val="1A1A1A"/>
                          </a:solidFill>
                          <a:latin typeface="Calibri"/>
                        </a:rPr>
                        <a:t>Amnesty 2024 (/90)</a:t>
                      </a:r>
                    </a:p>
                  </a:txBody>
                  <a:tcPr marL="73152" marR="73152" marT="27432" marB="27432" anchor="ctr">
                    <a:solidFill>
                      <a:srgbClr val="F3F1EC"/>
                    </a:solidFill>
                  </a:tcPr>
                </a:tc>
                <a:tc>
                  <a:txBody>
                    <a:bodyPr wrap="square"/>
                    <a:lstStyle/>
                    <a:p>
                      <a:r>
                        <a:rPr sz="1500" b="0">
                          <a:solidFill>
                            <a:srgbClr val="1A1A1A"/>
                          </a:solidFill>
                          <a:latin typeface="Calibri"/>
                        </a:rPr>
                        <a:t>27</a:t>
                      </a:r>
                    </a:p>
                  </a:txBody>
                  <a:tcPr marL="73152" marR="73152" marT="27432" marB="27432" anchor="ctr">
                    <a:solidFill>
                      <a:srgbClr val="F3F1EC"/>
                    </a:solidFill>
                  </a:tcPr>
                </a:tc>
                <a:tc>
                  <a:txBody>
                    <a:bodyPr wrap="square"/>
                    <a:lstStyle/>
                    <a:p>
                      <a:r>
                        <a:rPr sz="1500" b="1">
                          <a:solidFill>
                            <a:srgbClr val="FFFFFF"/>
                          </a:solidFill>
                          <a:latin typeface="Calibri"/>
                        </a:rPr>
                        <a:t>42</a:t>
                      </a:r>
                    </a:p>
                  </a:txBody>
                  <a:tcPr marL="73152" marR="73152" marT="27432" marB="27432" anchor="ctr">
                    <a:solidFill>
                      <a:srgbClr val="2E6B3A"/>
                    </a:solidFill>
                  </a:tcPr>
                </a:tc>
              </a:tr>
              <a:tr h="603504">
                <a:tc>
                  <a:txBody>
                    <a:bodyPr wrap="square"/>
                    <a:lstStyle/>
                    <a:p>
                      <a:r>
                        <a:rPr sz="1500" b="1">
                          <a:solidFill>
                            <a:srgbClr val="1A1A1A"/>
                          </a:solidFill>
                          <a:latin typeface="Calibri"/>
                        </a:rPr>
                        <a:t>Femmes au management</a:t>
                      </a:r>
                    </a:p>
                  </a:txBody>
                  <a:tcPr marL="73152" marR="73152" marT="27432" marB="27432" anchor="ctr">
                    <a:solidFill>
                      <a:srgbClr val="FFFFFF"/>
                    </a:solidFill>
                  </a:tcPr>
                </a:tc>
                <a:tc>
                  <a:txBody>
                    <a:bodyPr wrap="square"/>
                    <a:lstStyle/>
                    <a:p>
                      <a:r>
                        <a:rPr sz="1500" b="0">
                          <a:solidFill>
                            <a:srgbClr val="1A1A1A"/>
                          </a:solidFill>
                          <a:latin typeface="Calibri"/>
                        </a:rPr>
                        <a:t>27,4 %</a:t>
                      </a:r>
                    </a:p>
                  </a:txBody>
                  <a:tcPr marL="73152" marR="73152" marT="27432" marB="27432" anchor="ctr">
                    <a:solidFill>
                      <a:srgbClr val="FFFFFF"/>
                    </a:solidFill>
                  </a:tcPr>
                </a:tc>
                <a:tc>
                  <a:txBody>
                    <a:bodyPr wrap="square"/>
                    <a:lstStyle/>
                    <a:p>
                      <a:r>
                        <a:rPr sz="1500" b="1">
                          <a:solidFill>
                            <a:srgbClr val="FFFFFF"/>
                          </a:solidFill>
                          <a:latin typeface="Calibri"/>
                        </a:rPr>
                        <a:t>30 % (2023)</a:t>
                      </a:r>
                    </a:p>
                  </a:txBody>
                  <a:tcPr marL="73152" marR="73152" marT="27432" marB="27432" anchor="ctr">
                    <a:solidFill>
                      <a:srgbClr val="2E6B3A"/>
                    </a:solidFill>
                  </a:tcPr>
                </a:tc>
              </a:tr>
              <a:tr h="603504">
                <a:tc>
                  <a:txBody>
                    <a:bodyPr wrap="square"/>
                    <a:lstStyle/>
                    <a:p>
                      <a:r>
                        <a:rPr sz="1500" b="1">
                          <a:solidFill>
                            <a:srgbClr val="1A1A1A"/>
                          </a:solidFill>
                          <a:latin typeface="Calibri"/>
                        </a:rPr>
                        <a:t>Neutralité carbone</a:t>
                      </a:r>
                    </a:p>
                  </a:txBody>
                  <a:tcPr marL="73152" marR="73152" marT="27432" marB="27432" anchor="ctr">
                    <a:solidFill>
                      <a:srgbClr val="F3F1EC"/>
                    </a:solidFill>
                  </a:tcPr>
                </a:tc>
                <a:tc>
                  <a:txBody>
                    <a:bodyPr wrap="square"/>
                    <a:lstStyle/>
                    <a:p>
                      <a:r>
                        <a:rPr sz="1500" b="0">
                          <a:solidFill>
                            <a:srgbClr val="1A1A1A"/>
                          </a:solidFill>
                          <a:latin typeface="Calibri"/>
                        </a:rPr>
                        <a:t>2040 UE / 2050</a:t>
                      </a:r>
                    </a:p>
                  </a:txBody>
                  <a:tcPr marL="73152" marR="73152" marT="27432" marB="27432" anchor="ctr">
                    <a:solidFill>
                      <a:srgbClr val="F3F1EC"/>
                    </a:solidFill>
                  </a:tcPr>
                </a:tc>
                <a:tc>
                  <a:txBody>
                    <a:bodyPr wrap="square"/>
                    <a:lstStyle/>
                    <a:p>
                      <a:r>
                        <a:rPr sz="1500" b="0">
                          <a:solidFill>
                            <a:srgbClr val="1A1A1A"/>
                          </a:solidFill>
                          <a:latin typeface="Calibri"/>
                        </a:rPr>
                        <a:t>2038</a:t>
                      </a:r>
                    </a:p>
                  </a:txBody>
                  <a:tcPr marL="73152" marR="73152" marT="27432" marB="27432" anchor="ctr">
                    <a:solidFill>
                      <a:srgbClr val="F3F1EC"/>
                    </a:solidFill>
                  </a:tcPr>
                </a:tc>
              </a:tr>
              <a:tr h="603504">
                <a:tc>
                  <a:txBody>
                    <a:bodyPr wrap="square"/>
                    <a:lstStyle/>
                    <a:p>
                      <a:r>
                        <a:rPr sz="1500" b="1">
                          <a:solidFill>
                            <a:srgbClr val="1A1A1A"/>
                          </a:solidFill>
                          <a:latin typeface="Calibri"/>
                        </a:rPr>
                        <a:t>ISO 37001</a:t>
                      </a:r>
                    </a:p>
                  </a:txBody>
                  <a:tcPr marL="73152" marR="73152" marT="27432" marB="27432" anchor="ctr">
                    <a:solidFill>
                      <a:srgbClr val="FFFFFF"/>
                    </a:solidFill>
                  </a:tcPr>
                </a:tc>
                <a:tc>
                  <a:txBody>
                    <a:bodyPr wrap="square"/>
                    <a:lstStyle/>
                    <a:p>
                      <a:r>
                        <a:rPr sz="1500" b="1">
                          <a:solidFill>
                            <a:srgbClr val="FFFFFF"/>
                          </a:solidFill>
                          <a:latin typeface="Calibri"/>
                        </a:rPr>
                        <a:t>Oui</a:t>
                      </a:r>
                    </a:p>
                  </a:txBody>
                  <a:tcPr marL="73152" marR="73152" marT="27432" marB="27432" anchor="ctr">
                    <a:solidFill>
                      <a:srgbClr val="2E6B3A"/>
                    </a:solidFill>
                  </a:tcPr>
                </a:tc>
                <a:tc>
                  <a:txBody>
                    <a:bodyPr wrap="square"/>
                    <a:lstStyle/>
                    <a:p>
                      <a:r>
                        <a:rPr sz="1500" b="0">
                          <a:solidFill>
                            <a:srgbClr val="1A1A1A"/>
                          </a:solidFill>
                          <a:latin typeface="Calibri"/>
                        </a:rPr>
                        <a:t>Non trouvé</a:t>
                      </a:r>
                    </a:p>
                  </a:txBody>
                  <a:tcPr marL="73152" marR="73152" marT="27432" marB="27432" anchor="ctr">
                    <a:solidFill>
                      <a:srgbClr val="FFFFFF"/>
                    </a:solidFill>
                  </a:tcPr>
                </a:tc>
              </a:tr>
              <a:tr h="603504">
                <a:tc>
                  <a:txBody>
                    <a:bodyPr wrap="square"/>
                    <a:lstStyle/>
                    <a:p>
                      <a:r>
                        <a:rPr sz="1500" b="1">
                          <a:solidFill>
                            <a:srgbClr val="1A1A1A"/>
                          </a:solidFill>
                          <a:latin typeface="Calibri"/>
                        </a:rPr>
                        <a:t>Résultat net 2025</a:t>
                      </a:r>
                    </a:p>
                  </a:txBody>
                  <a:tcPr marL="73152" marR="73152" marT="27432" marB="27432" anchor="ctr">
                    <a:solidFill>
                      <a:srgbClr val="F3F1EC"/>
                    </a:solidFill>
                  </a:tcPr>
                </a:tc>
                <a:tc>
                  <a:txBody>
                    <a:bodyPr wrap="square"/>
                    <a:lstStyle/>
                    <a:p>
                      <a:r>
                        <a:rPr sz="1500" b="0">
                          <a:solidFill>
                            <a:srgbClr val="1A1A1A"/>
                          </a:solidFill>
                          <a:latin typeface="Calibri"/>
                        </a:rPr>
                        <a:t>−10,9 Md€</a:t>
                      </a:r>
                    </a:p>
                  </a:txBody>
                  <a:tcPr marL="73152" marR="73152" marT="27432" marB="27432" anchor="ctr">
                    <a:solidFill>
                      <a:srgbClr val="F3F1EC"/>
                    </a:solidFill>
                  </a:tcPr>
                </a:tc>
                <a:tc>
                  <a:txBody>
                    <a:bodyPr wrap="square"/>
                    <a:lstStyle/>
                    <a:p>
                      <a:r>
                        <a:rPr sz="1500" b="0">
                          <a:solidFill>
                            <a:srgbClr val="1A1A1A"/>
                          </a:solidFill>
                          <a:latin typeface="Calibri"/>
                        </a:rPr>
                        <a:t>−22,3 Md€</a:t>
                      </a:r>
                    </a:p>
                  </a:txBody>
                  <a:tcPr marL="73152" marR="73152" marT="27432" marB="27432" anchor="ctr">
                    <a:solidFill>
                      <a:srgbClr val="F3F1EC"/>
                    </a:solidFill>
                  </a:tcPr>
                </a:tc>
              </a:tr>
            </a:tbl>
          </a:graphicData>
        </a:graphic>
      </p:graphicFrame>
      <p:sp>
        <p:nvSpPr>
          <p:cNvPr id="18" name="TextBox 17"/>
          <p:cNvSpPr txBox="1"/>
          <p:nvPr/>
        </p:nvSpPr>
        <p:spPr>
          <a:xfrm>
            <a:off x="4754880" y="6035040"/>
            <a:ext cx="6903720" cy="320040"/>
          </a:xfrm>
          <a:prstGeom prst="rect">
            <a:avLst/>
          </a:prstGeom>
          <a:noFill/>
        </p:spPr>
        <p:txBody>
          <a:bodyPr wrap="square" lIns="45720" rIns="45720" tIns="27432" bIns="27432" anchor="t">
            <a:spAutoFit/>
          </a:bodyPr>
          <a:lstStyle/>
          <a:p>
            <a:pPr algn="l"/>
            <a:r>
              <a:rPr sz="1100" b="0" i="1">
                <a:solidFill>
                  <a:srgbClr val="5E5E5E"/>
                </a:solidFill>
                <a:latin typeface="Calibri"/>
              </a:rPr>
              <a:t>Vert = meilleur des deux</a:t>
            </a:r>
          </a:p>
        </p:txBody>
      </p:sp>
      <p:sp>
        <p:nvSpPr>
          <p:cNvPr id="19" name="TextBox 18"/>
          <p:cNvSpPr txBox="1"/>
          <p:nvPr/>
        </p:nvSpPr>
        <p:spPr>
          <a:xfrm>
            <a:off x="548640" y="6400800"/>
            <a:ext cx="10424160" cy="274320"/>
          </a:xfrm>
          <a:prstGeom prst="rect">
            <a:avLst/>
          </a:prstGeom>
          <a:noFill/>
        </p:spPr>
        <p:txBody>
          <a:bodyPr wrap="square" lIns="45720" rIns="45720" tIns="27432" bIns="27432" anchor="t">
            <a:spAutoFit/>
          </a:bodyPr>
          <a:lstStyle/>
          <a:p>
            <a:pPr algn="l"/>
            <a:r>
              <a:rPr sz="1000" b="0" i="1">
                <a:solidFill>
                  <a:srgbClr val="5E5E5E"/>
                </a:solidFill>
                <a:latin typeface="Calibri"/>
              </a:rPr>
              <a:t>Sources : GRI Sector Program ; ICCT 2025 ; Amnesty (2024) ; DEU 2025 ; Stellantis FY2025 et Form 20-F.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ounded Rectangle 1"/>
          <p:cNvSpPr/>
          <p:nvPr/>
        </p:nvSpPr>
        <p:spPr>
          <a:xfrm>
            <a:off x="548640" y="320040"/>
            <a:ext cx="1179576" cy="329184"/>
          </a:xfrm>
          <a:prstGeom prst="roundRect">
            <a:avLst>
              <a:gd name="adj" fmla="val 50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111111"/>
                </a:solidFill>
                <a:latin typeface="Calibri"/>
              </a:rPr>
              <a:t>CONCLUSION</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D6C4A0"/>
                </a:solidFill>
                <a:latin typeface="Calibri"/>
              </a:rPr>
              <a:t>16</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FFFFFF"/>
                </a:solidFill>
                <a:latin typeface="Calibri"/>
              </a:rPr>
              <a:t>Conclusion : un leader… sous contrainte</a:t>
            </a:r>
          </a:p>
        </p:txBody>
      </p:sp>
      <p:sp>
        <p:nvSpPr>
          <p:cNvPr id="5" name="TextBox 4"/>
          <p:cNvSpPr txBox="1"/>
          <p:nvPr/>
        </p:nvSpPr>
        <p:spPr>
          <a:xfrm>
            <a:off x="548640" y="1737360"/>
            <a:ext cx="5394960" cy="457200"/>
          </a:xfrm>
          <a:prstGeom prst="rect">
            <a:avLst/>
          </a:prstGeom>
          <a:noFill/>
        </p:spPr>
        <p:txBody>
          <a:bodyPr wrap="square" lIns="45720" rIns="45720" tIns="27432" bIns="27432" anchor="t">
            <a:spAutoFit/>
          </a:bodyPr>
          <a:lstStyle/>
          <a:p>
            <a:pPr algn="l"/>
            <a:r>
              <a:rPr sz="2200" b="1" i="0">
                <a:solidFill>
                  <a:srgbClr val="EFDF00"/>
                </a:solidFill>
                <a:latin typeface="Calibri"/>
              </a:rPr>
              <a:t>Points forts</a:t>
            </a:r>
          </a:p>
        </p:txBody>
      </p:sp>
      <p:sp>
        <p:nvSpPr>
          <p:cNvPr id="6" name="TextBox 5"/>
          <p:cNvSpPr txBox="1"/>
          <p:nvPr/>
        </p:nvSpPr>
        <p:spPr>
          <a:xfrm>
            <a:off x="548640" y="228600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Reporting CSRD transparent</a:t>
            </a:r>
          </a:p>
        </p:txBody>
      </p:sp>
      <p:sp>
        <p:nvSpPr>
          <p:cNvPr id="7" name="TextBox 6"/>
          <p:cNvSpPr txBox="1"/>
          <p:nvPr/>
        </p:nvSpPr>
        <p:spPr>
          <a:xfrm>
            <a:off x="548640" y="278892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Gouvernance et rémunération liées</a:t>
            </a:r>
          </a:p>
        </p:txBody>
      </p:sp>
      <p:sp>
        <p:nvSpPr>
          <p:cNvPr id="8" name="TextBox 7"/>
          <p:cNvSpPr txBox="1"/>
          <p:nvPr/>
        </p:nvSpPr>
        <p:spPr>
          <a:xfrm>
            <a:off x="548640" y="329184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−38 % d'émissions depuis 2019</a:t>
            </a:r>
          </a:p>
        </p:txBody>
      </p:sp>
      <p:sp>
        <p:nvSpPr>
          <p:cNvPr id="9" name="TextBox 8"/>
          <p:cNvSpPr txBox="1"/>
          <p:nvPr/>
        </p:nvSpPr>
        <p:spPr>
          <a:xfrm>
            <a:off x="548640" y="379476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Électrification réelle en Europe</a:t>
            </a:r>
          </a:p>
        </p:txBody>
      </p:sp>
      <p:sp>
        <p:nvSpPr>
          <p:cNvPr id="10" name="TextBox 9"/>
          <p:cNvSpPr txBox="1"/>
          <p:nvPr/>
        </p:nvSpPr>
        <p:spPr>
          <a:xfrm>
            <a:off x="6217920" y="1737360"/>
            <a:ext cx="5394960" cy="457200"/>
          </a:xfrm>
          <a:prstGeom prst="rect">
            <a:avLst/>
          </a:prstGeom>
          <a:noFill/>
        </p:spPr>
        <p:txBody>
          <a:bodyPr wrap="square" lIns="45720" rIns="45720" tIns="27432" bIns="27432" anchor="t">
            <a:spAutoFit/>
          </a:bodyPr>
          <a:lstStyle/>
          <a:p>
            <a:pPr algn="l"/>
            <a:r>
              <a:rPr sz="2200" b="1" i="0">
                <a:solidFill>
                  <a:srgbClr val="D6C4A0"/>
                </a:solidFill>
                <a:latin typeface="Calibri"/>
              </a:rPr>
              <a:t>Points faibles</a:t>
            </a:r>
          </a:p>
        </p:txBody>
      </p:sp>
      <p:sp>
        <p:nvSpPr>
          <p:cNvPr id="11" name="TextBox 10"/>
          <p:cNvSpPr txBox="1"/>
          <p:nvPr/>
        </p:nvSpPr>
        <p:spPr>
          <a:xfrm>
            <a:off x="6217920" y="228600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Cibles 2030 déjà dépassées</a:t>
            </a:r>
          </a:p>
        </p:txBody>
      </p:sp>
      <p:sp>
        <p:nvSpPr>
          <p:cNvPr id="12" name="TextBox 11"/>
          <p:cNvSpPr txBox="1"/>
          <p:nvPr/>
        </p:nvSpPr>
        <p:spPr>
          <a:xfrm>
            <a:off x="6217920" y="278892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Objectifs reportés ou abaissés</a:t>
            </a:r>
          </a:p>
        </p:txBody>
      </p:sp>
      <p:sp>
        <p:nvSpPr>
          <p:cNvPr id="13" name="TextBox 12"/>
          <p:cNvSpPr txBox="1"/>
          <p:nvPr/>
        </p:nvSpPr>
        <p:spPr>
          <a:xfrm>
            <a:off x="6217920" y="329184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Lobbying CO2 (D+)</a:t>
            </a:r>
          </a:p>
        </p:txBody>
      </p:sp>
      <p:sp>
        <p:nvSpPr>
          <p:cNvPr id="14" name="TextBox 13"/>
          <p:cNvSpPr txBox="1"/>
          <p:nvPr/>
        </p:nvSpPr>
        <p:spPr>
          <a:xfrm>
            <a:off x="6217920" y="3794760"/>
            <a:ext cx="5394960" cy="457200"/>
          </a:xfrm>
          <a:prstGeom prst="rect">
            <a:avLst/>
          </a:prstGeom>
          <a:noFill/>
        </p:spPr>
        <p:txBody>
          <a:bodyPr wrap="square" lIns="45720" rIns="45720" tIns="27432" bIns="27432" anchor="t">
            <a:spAutoFit/>
          </a:bodyPr>
          <a:lstStyle/>
          <a:p>
            <a:pPr algn="l"/>
            <a:r>
              <a:rPr sz="1700" b="0" i="0">
                <a:solidFill>
                  <a:srgbClr val="FFFFFF"/>
                </a:solidFill>
                <a:latin typeface="Calibri"/>
              </a:rPr>
              <a:t>▸ Chaîne des batteries (27/90)</a:t>
            </a:r>
          </a:p>
        </p:txBody>
      </p:sp>
      <p:sp>
        <p:nvSpPr>
          <p:cNvPr id="15" name="Rounded Rectangle 14"/>
          <p:cNvSpPr/>
          <p:nvPr/>
        </p:nvSpPr>
        <p:spPr>
          <a:xfrm>
            <a:off x="548640" y="4480560"/>
            <a:ext cx="11064240" cy="1691640"/>
          </a:xfrm>
          <a:prstGeom prst="roundRect">
            <a:avLst>
              <a:gd name="adj" fmla="val 8000"/>
            </a:avLst>
          </a:prstGeom>
          <a:solidFill>
            <a:srgbClr val="EFD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526280"/>
            <a:ext cx="10515600" cy="1600200"/>
          </a:xfrm>
          <a:prstGeom prst="rect">
            <a:avLst/>
          </a:prstGeom>
          <a:noFill/>
        </p:spPr>
        <p:txBody>
          <a:bodyPr wrap="square" lIns="45720" rIns="45720" tIns="27432" bIns="27432" anchor="ctr">
            <a:spAutoFit/>
          </a:bodyPr>
          <a:lstStyle/>
          <a:p>
            <a:pPr algn="l">
              <a:spcAft>
                <a:spcPts val="600"/>
              </a:spcAft>
            </a:pPr>
            <a:r>
              <a:rPr sz="2100" b="1" i="0">
                <a:solidFill>
                  <a:srgbClr val="111111"/>
                </a:solidFill>
                <a:latin typeface="Calibri"/>
              </a:rPr>
              <a:t>Réponse : </a:t>
            </a:r>
            <a:r>
              <a:rPr sz="2100" b="0" i="0">
                <a:solidFill>
                  <a:srgbClr val="111111"/>
                </a:solidFill>
                <a:latin typeface="Calibri"/>
              </a:rPr>
              <a:t>des résultats là où loi et intérêt économique convergent.</a:t>
            </a:r>
          </a:p>
          <a:p>
            <a:pPr algn="l">
              <a:spcAft>
                <a:spcPts val="600"/>
              </a:spcAft>
            </a:pPr>
            <a:r>
              <a:rPr sz="1700" b="0" i="1">
                <a:solidFill>
                  <a:srgbClr val="111111"/>
                </a:solidFill>
                <a:latin typeface="Calibri"/>
              </a:rPr>
              <a:t>Ouverture : si la loi recule (2035, Omnibus), la RSE de Renault continuera-t-elle d'avancer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20040"/>
            <a:ext cx="891540" cy="329184"/>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EFDF00"/>
                </a:solidFill>
                <a:latin typeface="Calibri"/>
              </a:rPr>
              <a:t>SOURCES</a:t>
            </a:r>
          </a:p>
        </p:txBody>
      </p:sp>
      <p:sp>
        <p:nvSpPr>
          <p:cNvPr id="3" name="TextBox 2"/>
          <p:cNvSpPr txBox="1"/>
          <p:nvPr/>
        </p:nvSpPr>
        <p:spPr>
          <a:xfrm>
            <a:off x="11155680" y="6400800"/>
            <a:ext cx="731520" cy="274320"/>
          </a:xfrm>
          <a:prstGeom prst="rect">
            <a:avLst/>
          </a:prstGeom>
          <a:noFill/>
        </p:spPr>
        <p:txBody>
          <a:bodyPr wrap="square" lIns="45720" rIns="45720" tIns="27432" bIns="27432" anchor="t">
            <a:spAutoFit/>
          </a:bodyPr>
          <a:lstStyle/>
          <a:p>
            <a:pPr algn="r"/>
            <a:r>
              <a:rPr sz="1100" b="0" i="0">
                <a:solidFill>
                  <a:srgbClr val="5E5E5E"/>
                </a:solidFill>
                <a:latin typeface="Calibri"/>
              </a:rPr>
              <a:t>17</a:t>
            </a:r>
          </a:p>
        </p:txBody>
      </p:sp>
      <p:sp>
        <p:nvSpPr>
          <p:cNvPr id="4" name="TextBox 3"/>
          <p:cNvSpPr txBox="1"/>
          <p:nvPr/>
        </p:nvSpPr>
        <p:spPr>
          <a:xfrm>
            <a:off x="548640" y="822960"/>
            <a:ext cx="11064240" cy="731520"/>
          </a:xfrm>
          <a:prstGeom prst="rect">
            <a:avLst/>
          </a:prstGeom>
          <a:noFill/>
        </p:spPr>
        <p:txBody>
          <a:bodyPr wrap="square" lIns="45720" rIns="45720" tIns="27432" bIns="27432" anchor="t">
            <a:spAutoFit/>
          </a:bodyPr>
          <a:lstStyle/>
          <a:p>
            <a:pPr algn="l"/>
            <a:r>
              <a:rPr sz="3400" b="1" i="0">
                <a:solidFill>
                  <a:srgbClr val="1A1A1A"/>
                </a:solidFill>
                <a:latin typeface="Calibri"/>
              </a:rPr>
              <a:t>Principales sources</a:t>
            </a:r>
          </a:p>
        </p:txBody>
      </p:sp>
      <p:sp>
        <p:nvSpPr>
          <p:cNvPr id="5" name="TextBox 4"/>
          <p:cNvSpPr txBox="1"/>
          <p:nvPr/>
        </p:nvSpPr>
        <p:spPr>
          <a:xfrm>
            <a:off x="548640" y="1737360"/>
            <a:ext cx="3566160" cy="457200"/>
          </a:xfrm>
          <a:prstGeom prst="rect">
            <a:avLst/>
          </a:prstGeom>
          <a:noFill/>
        </p:spPr>
        <p:txBody>
          <a:bodyPr wrap="square" lIns="45720" rIns="45720" tIns="27432" bIns="27432" anchor="t">
            <a:spAutoFit/>
          </a:bodyPr>
          <a:lstStyle/>
          <a:p>
            <a:pPr algn="l"/>
            <a:r>
              <a:rPr sz="1700" b="1" i="0">
                <a:solidFill>
                  <a:srgbClr val="B0852F"/>
                </a:solidFill>
                <a:latin typeface="Calibri"/>
              </a:rPr>
              <a:t>Documents Renault Group</a:t>
            </a:r>
          </a:p>
        </p:txBody>
      </p:sp>
      <p:sp>
        <p:nvSpPr>
          <p:cNvPr id="6" name="TextBox 5"/>
          <p:cNvSpPr txBox="1"/>
          <p:nvPr/>
        </p:nvSpPr>
        <p:spPr>
          <a:xfrm>
            <a:off x="548640" y="2240280"/>
            <a:ext cx="3566160" cy="3657600"/>
          </a:xfrm>
          <a:prstGeom prst="rect">
            <a:avLst/>
          </a:prstGeom>
          <a:noFill/>
        </p:spPr>
        <p:txBody>
          <a:bodyPr wrap="square" lIns="45720" rIns="45720" tIns="27432" bIns="27432" anchor="t">
            <a:spAutoFit/>
          </a:bodyPr>
          <a:lstStyle/>
          <a:p>
            <a:pPr algn="l">
              <a:spcAft>
                <a:spcPts val="800"/>
              </a:spcAft>
            </a:pPr>
            <a:r>
              <a:rPr sz="1300" b="0" i="0">
                <a:solidFill>
                  <a:srgbClr val="1A1A1A"/>
                </a:solidFill>
                <a:latin typeface="Calibri"/>
              </a:rPr>
              <a:t>• DEU 2025 (état de durabilité CSRD, plan de vigilance)</a:t>
            </a:r>
          </a:p>
          <a:p>
            <a:pPr algn="l">
              <a:spcAft>
                <a:spcPts val="800"/>
              </a:spcAft>
            </a:pPr>
            <a:r>
              <a:rPr sz="1300" b="0" i="0">
                <a:solidFill>
                  <a:srgbClr val="1A1A1A"/>
                </a:solidFill>
                <a:latin typeface="Calibri"/>
              </a:rPr>
              <a:t>• Charte Diversité &amp; Inclusion (2022)</a:t>
            </a:r>
          </a:p>
          <a:p>
            <a:pPr algn="l">
              <a:spcAft>
                <a:spcPts val="800"/>
              </a:spcAft>
            </a:pPr>
            <a:r>
              <a:rPr sz="1300" b="0" i="0">
                <a:solidFill>
                  <a:srgbClr val="1A1A1A"/>
                </a:solidFill>
                <a:latin typeface="Calibri"/>
              </a:rPr>
              <a:t>• Politique d'Achats fournisseurs (2024)</a:t>
            </a:r>
          </a:p>
          <a:p>
            <a:pPr algn="l">
              <a:spcAft>
                <a:spcPts val="800"/>
              </a:spcAft>
            </a:pPr>
            <a:r>
              <a:rPr sz="1300" b="0" i="0">
                <a:solidFill>
                  <a:srgbClr val="1A1A1A"/>
                </a:solidFill>
                <a:latin typeface="Calibri"/>
              </a:rPr>
              <a:t>• Code de conduite anticorruption (2025)</a:t>
            </a:r>
          </a:p>
          <a:p>
            <a:pPr algn="l">
              <a:spcAft>
                <a:spcPts val="800"/>
              </a:spcAft>
            </a:pPr>
            <a:r>
              <a:rPr sz="1300" b="0" i="0">
                <a:solidFill>
                  <a:srgbClr val="1A1A1A"/>
                </a:solidFill>
                <a:latin typeface="Calibri"/>
              </a:rPr>
              <a:t>• Charte éthique (2026)</a:t>
            </a:r>
          </a:p>
        </p:txBody>
      </p:sp>
      <p:sp>
        <p:nvSpPr>
          <p:cNvPr id="7" name="TextBox 6"/>
          <p:cNvSpPr txBox="1"/>
          <p:nvPr/>
        </p:nvSpPr>
        <p:spPr>
          <a:xfrm>
            <a:off x="4297679" y="1737360"/>
            <a:ext cx="3566160" cy="457200"/>
          </a:xfrm>
          <a:prstGeom prst="rect">
            <a:avLst/>
          </a:prstGeom>
          <a:noFill/>
        </p:spPr>
        <p:txBody>
          <a:bodyPr wrap="square" lIns="45720" rIns="45720" tIns="27432" bIns="27432" anchor="t">
            <a:spAutoFit/>
          </a:bodyPr>
          <a:lstStyle/>
          <a:p>
            <a:pPr algn="l"/>
            <a:r>
              <a:rPr sz="1700" b="1" i="0">
                <a:solidFill>
                  <a:srgbClr val="B0852F"/>
                </a:solidFill>
                <a:latin typeface="Calibri"/>
              </a:rPr>
              <a:t>Presse et justice</a:t>
            </a:r>
          </a:p>
        </p:txBody>
      </p:sp>
      <p:sp>
        <p:nvSpPr>
          <p:cNvPr id="8" name="TextBox 7"/>
          <p:cNvSpPr txBox="1"/>
          <p:nvPr/>
        </p:nvSpPr>
        <p:spPr>
          <a:xfrm>
            <a:off x="4297679" y="2240280"/>
            <a:ext cx="3566160" cy="3657600"/>
          </a:xfrm>
          <a:prstGeom prst="rect">
            <a:avLst/>
          </a:prstGeom>
          <a:noFill/>
        </p:spPr>
        <p:txBody>
          <a:bodyPr wrap="square" lIns="45720" rIns="45720" tIns="27432" bIns="27432" anchor="t">
            <a:spAutoFit/>
          </a:bodyPr>
          <a:lstStyle/>
          <a:p>
            <a:pPr algn="l">
              <a:spcAft>
                <a:spcPts val="800"/>
              </a:spcAft>
            </a:pPr>
            <a:r>
              <a:rPr sz="1300" b="0" i="0">
                <a:solidFill>
                  <a:srgbClr val="1A1A1A"/>
                </a:solidFill>
                <a:latin typeface="Calibri"/>
              </a:rPr>
              <a:t>• franceinfo, La Libre (dieselgate, 07/2026)</a:t>
            </a:r>
          </a:p>
          <a:p>
            <a:pPr algn="l">
              <a:spcAft>
                <a:spcPts val="800"/>
              </a:spcAft>
            </a:pPr>
            <a:r>
              <a:rPr sz="1300" b="0" i="0">
                <a:solidFill>
                  <a:srgbClr val="1A1A1A"/>
                </a:solidFill>
                <a:latin typeface="Calibri"/>
              </a:rPr>
              <a:t>• Commission européenne (amende VHU, 04/2025)</a:t>
            </a:r>
          </a:p>
          <a:p>
            <a:pPr algn="l">
              <a:spcAft>
                <a:spcPts val="800"/>
              </a:spcAft>
            </a:pPr>
            <a:r>
              <a:rPr sz="1300" b="0" i="0">
                <a:solidFill>
                  <a:srgbClr val="1A1A1A"/>
                </a:solidFill>
                <a:latin typeface="Calibri"/>
              </a:rPr>
              <a:t>• L'Orient-Le Jour, France 24 (affaire Ghosn)</a:t>
            </a:r>
          </a:p>
          <a:p>
            <a:pPr algn="l">
              <a:spcAft>
                <a:spcPts val="800"/>
              </a:spcAft>
            </a:pPr>
            <a:r>
              <a:rPr sz="1300" b="0" i="0">
                <a:solidFill>
                  <a:srgbClr val="1A1A1A"/>
                </a:solidFill>
                <a:latin typeface="Calibri"/>
              </a:rPr>
              <a:t>• L'Usine Nouvelle, L'argus (Flins)</a:t>
            </a:r>
          </a:p>
          <a:p>
            <a:pPr algn="l">
              <a:spcAft>
                <a:spcPts val="800"/>
              </a:spcAft>
            </a:pPr>
            <a:r>
              <a:rPr sz="1300" b="0" i="0">
                <a:solidFill>
                  <a:srgbClr val="1A1A1A"/>
                </a:solidFill>
                <a:latin typeface="Calibri"/>
              </a:rPr>
              <a:t>• Reporterre (2022), Zonebourse</a:t>
            </a:r>
          </a:p>
        </p:txBody>
      </p:sp>
      <p:sp>
        <p:nvSpPr>
          <p:cNvPr id="9" name="TextBox 8"/>
          <p:cNvSpPr txBox="1"/>
          <p:nvPr/>
        </p:nvSpPr>
        <p:spPr>
          <a:xfrm>
            <a:off x="8046719" y="1737360"/>
            <a:ext cx="3566160" cy="457200"/>
          </a:xfrm>
          <a:prstGeom prst="rect">
            <a:avLst/>
          </a:prstGeom>
          <a:noFill/>
        </p:spPr>
        <p:txBody>
          <a:bodyPr wrap="square" lIns="45720" rIns="45720" tIns="27432" bIns="27432" anchor="t">
            <a:spAutoFit/>
          </a:bodyPr>
          <a:lstStyle/>
          <a:p>
            <a:pPr algn="l"/>
            <a:r>
              <a:rPr sz="1700" b="1" i="0">
                <a:solidFill>
                  <a:srgbClr val="B0852F"/>
                </a:solidFill>
                <a:latin typeface="Calibri"/>
              </a:rPr>
              <a:t>ONG, standards, concurrent</a:t>
            </a:r>
          </a:p>
        </p:txBody>
      </p:sp>
      <p:sp>
        <p:nvSpPr>
          <p:cNvPr id="10" name="TextBox 9"/>
          <p:cNvSpPr txBox="1"/>
          <p:nvPr/>
        </p:nvSpPr>
        <p:spPr>
          <a:xfrm>
            <a:off x="8046719" y="2240280"/>
            <a:ext cx="3566160" cy="3657600"/>
          </a:xfrm>
          <a:prstGeom prst="rect">
            <a:avLst/>
          </a:prstGeom>
          <a:noFill/>
        </p:spPr>
        <p:txBody>
          <a:bodyPr wrap="square" lIns="45720" rIns="45720" tIns="27432" bIns="27432" anchor="t">
            <a:spAutoFit/>
          </a:bodyPr>
          <a:lstStyle/>
          <a:p>
            <a:pPr algn="l">
              <a:spcAft>
                <a:spcPts val="800"/>
              </a:spcAft>
            </a:pPr>
            <a:r>
              <a:rPr sz="1300" b="0" i="0">
                <a:solidFill>
                  <a:srgbClr val="1A1A1A"/>
                </a:solidFill>
                <a:latin typeface="Calibri"/>
              </a:rPr>
              <a:t>• Amnesty « Recharge for Rights » (2024)</a:t>
            </a:r>
          </a:p>
          <a:p>
            <a:pPr algn="l">
              <a:spcAft>
                <a:spcPts val="800"/>
              </a:spcAft>
            </a:pPr>
            <a:r>
              <a:rPr sz="1300" b="0" i="0">
                <a:solidFill>
                  <a:srgbClr val="1A1A1A"/>
                </a:solidFill>
                <a:latin typeface="Calibri"/>
              </a:rPr>
              <a:t>• InfluenceMap · Greenpeace · T&amp;E · ICCT</a:t>
            </a:r>
          </a:p>
          <a:p>
            <a:pPr algn="l">
              <a:spcAft>
                <a:spcPts val="800"/>
              </a:spcAft>
            </a:pPr>
            <a:r>
              <a:rPr sz="1300" b="0" i="0">
                <a:solidFill>
                  <a:srgbClr val="1A1A1A"/>
                </a:solidFill>
                <a:latin typeface="Calibri"/>
              </a:rPr>
              <a:t>• GRI Sector Program · SBTi · MSCI · CDP</a:t>
            </a:r>
          </a:p>
          <a:p>
            <a:pPr algn="l">
              <a:spcAft>
                <a:spcPts val="800"/>
              </a:spcAft>
            </a:pPr>
            <a:r>
              <a:rPr sz="1300" b="0" i="0">
                <a:solidFill>
                  <a:srgbClr val="1A1A1A"/>
                </a:solidFill>
                <a:latin typeface="Calibri"/>
              </a:rPr>
              <a:t>• Stellantis FY2025, Form 20-F</a:t>
            </a:r>
          </a:p>
          <a:p>
            <a:pPr algn="l">
              <a:spcAft>
                <a:spcPts val="800"/>
              </a:spcAft>
            </a:pPr>
            <a:r>
              <a:rPr sz="1300" b="0" i="0">
                <a:solidFill>
                  <a:srgbClr val="1A1A1A"/>
                </a:solidFill>
                <a:latin typeface="Calibri"/>
              </a:rPr>
              <a:t>• Parlement européen, EY (Omnibus)</a:t>
            </a:r>
          </a:p>
        </p:txBody>
      </p:sp>
      <p:sp>
        <p:nvSpPr>
          <p:cNvPr id="11" name="Rounded Rectangle 10"/>
          <p:cNvSpPr/>
          <p:nvPr/>
        </p:nvSpPr>
        <p:spPr>
          <a:xfrm>
            <a:off x="548640" y="5623560"/>
            <a:ext cx="11064240" cy="548640"/>
          </a:xfrm>
          <a:prstGeom prst="roundRect">
            <a:avLst>
              <a:gd name="adj" fmla="val 30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623560"/>
            <a:ext cx="11064240" cy="548640"/>
          </a:xfrm>
          <a:prstGeom prst="rect">
            <a:avLst/>
          </a:prstGeom>
          <a:noFill/>
        </p:spPr>
        <p:txBody>
          <a:bodyPr wrap="square" lIns="45720" rIns="45720" tIns="27432" bIns="27432" anchor="ctr">
            <a:spAutoFit/>
          </a:bodyPr>
          <a:lstStyle/>
          <a:p>
            <a:pPr algn="ctr"/>
            <a:r>
              <a:rPr sz="1500" b="1" i="0">
                <a:solidFill>
                  <a:srgbClr val="1A1A1A"/>
                </a:solidFill>
                <a:latin typeface="Calibri"/>
              </a:rPr>
              <a:t>Bibliographie complète (URL et dates de consultation) dans le rapport écrit · Merci de votre attention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